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" Target="slide6.xml"/><Relationship Id="rId7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2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cool.com.cn/" TargetMode="External"/><Relationship Id="rId2" Type="http://schemas.openxmlformats.org/officeDocument/2006/relationships/hyperlink" Target="Node.js%20&#20013;&#25991;&#32593;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532, position: 'relative', flexDirection: 'column', justifyContent: 'center', alignItems: 'center', gap: 22 }}&gt;&#10;    &lt;Box style={{ position: 'absolute', top: 16, right: 40, width: 220, height: 220, borderRadius: 110, border: '1px solid #143A61' }} /&gt;&#10;    &lt;Box style={{ position: 'absolute', bottom: 10, left: 50, width: 140, height: 140, borderRadius: 70, border: '1px solid #143A61' }} /&gt;&#10;    &lt;Box style={{ position: 'absolute', top: 60, left: 120, width: 10, height: 10, borderRadius: 5, background: '#00D4FF', opacity: 0.6 }} /&gt;&#10;    &lt;Box style={{ flexDirection: 'row', alignItems: 'center', gap: 14 }}&gt;&#10;      &lt;Box style={{ width: 46, height: 6, background: '#00D4FF', borderRadius: 3 }} /&gt;&#10;      &lt;Text style={{ fontSize: 15, color: '#9FBEDD', fontFamily: 'Arial', letterSpacing: 4 }}&gt;GESTURE CONTROLLER · LIVE DEMO&lt;/Text&gt;&#10;    &lt;/Box&gt;&#10;    &lt;FAIcon name=&quot;hand-pointer&quot; style={{ fill: '#00D4FF', width: 88, height: 88 }} /&gt;&#10;    &lt;Text style={{ fontSize: 62, color: '#EAF3FF', fontWeight: 'bold', letterSpacing: 6 }}&gt;手势控制器 · 现场演示&lt;/Text&gt;&#10;    &lt;Text style={{ fontSize: 20, color: '#9FBEDD' }}&gt;8 种手势 · 全程隔空 · 一个不落&lt;/Text&gt;&#10;    &lt;Box style={{ flexDirection: 'row', alignItems: 'center', gap: 12, background: '#143A61', borderRadius: 32, padding: '14px 30px', border: '1px solid #00D4FF', marginTop: 10 }}&gt;&#10;      &lt;FAIcon name=&quot;arrow-right&quot; style={{ fill: '#00D4FF', width: 26, height: 26 }} /&gt;&#10;      &lt;Text style={{ fontSize: 18, color: '#00D4FF', fontWeight: 'bold' }}&gt;做一个【右滑】手势 · 开始演示&lt;/Text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1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: 圆角 2"/>
          <p:cNvSpPr/>
          <p:nvPr/>
        </p:nvSpPr>
        <p:spPr>
          <a:xfrm>
            <a:off x="571500" y="5695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723900" y="5648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01 / 10</a:t>
            </a:r>
            <a:endParaRPr dirty="0"/>
          </a:p>
        </p:txBody>
      </p:sp>
      <p:sp>
        <p:nvSpPr>
          <p:cNvPr id="6" name="矩形: 圆角 5">
            <a:hlinkClick r:id="" action="ppaction://hlinkshowjump?jump=previousslide"/>
          </p:cNvPr>
          <p:cNvSpPr/>
          <p:nvPr/>
        </p:nvSpPr>
        <p:spPr>
          <a:xfrm>
            <a:off x="9886950" y="5581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9350" y="5667375"/>
            <a:ext cx="114300" cy="114300"/>
          </a:xfrm>
          <a:prstGeom prst="rect">
            <a:avLst/>
          </a:prstGeom>
          <a:ln/>
        </p:spPr>
      </p:pic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10210800" y="5648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0" name="矩形: 圆角 9">
            <a:hlinkClick r:id="" action="ppaction://hlinkshowjump?jump=nextslide"/>
          </p:cNvPr>
          <p:cNvSpPr/>
          <p:nvPr/>
        </p:nvSpPr>
        <p:spPr>
          <a:xfrm>
            <a:off x="10801350" y="5581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0953750" y="5648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dirty="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 dirty="0"/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3800" y="5667375"/>
            <a:ext cx="114300" cy="114300"/>
          </a:xfrm>
          <a:prstGeom prst="rect">
            <a:avLst/>
          </a:prstGeom>
          <a:ln/>
        </p:spPr>
      </p:pic>
      <p:sp>
        <p:nvSpPr>
          <p:cNvPr id="13" name="矩形: 圆角 12"/>
          <p:cNvSpPr/>
          <p:nvPr/>
        </p:nvSpPr>
        <p:spPr>
          <a:xfrm>
            <a:off x="3933825" y="135255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505325" y="1295400"/>
            <a:ext cx="3762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9FBEDD"/>
                </a:solidFill>
                <a:latin typeface="Arial"/>
                <a:ea typeface="Arial"/>
              </a:rPr>
              <a:t>GESTURE CONTROLLER · LIVE DEMO</a:t>
            </a:r>
            <a:endParaRPr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00" y="1676400"/>
            <a:ext cx="838200" cy="838200"/>
          </a:xfrm>
          <a:prstGeom prst="rect">
            <a:avLst/>
          </a:prstGeom>
          <a:ln/>
        </p:spPr>
      </p:pic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2790825" y="2724150"/>
            <a:ext cx="6619875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650" b="1" spc="450">
                <a:solidFill>
                  <a:srgbClr val="EAF3FF"/>
                </a:solidFill>
                <a:latin typeface="Microsoft YaHei"/>
                <a:ea typeface="Microsoft YaHei"/>
              </a:rPr>
              <a:t>手势控制器</a:t>
            </a:r>
            <a:r>
              <a:rPr lang="en-US" sz="4650" b="1" spc="450">
                <a:solidFill>
                  <a:srgbClr val="EAF3FF"/>
                </a:solidFill>
                <a:latin typeface="Microsoft YaHei"/>
                <a:ea typeface="Microsoft YaHei"/>
              </a:rPr>
              <a:t> · </a:t>
            </a:r>
            <a:r>
              <a:rPr lang="zh-CN" sz="4650" b="1" spc="450">
                <a:solidFill>
                  <a:srgbClr val="EAF3FF"/>
                </a:solidFill>
                <a:latin typeface="Microsoft YaHei"/>
                <a:ea typeface="Microsoft YaHei"/>
              </a:rPr>
              <a:t>现场演示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810125" y="3648075"/>
            <a:ext cx="25812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21" name="矩形: 圆角 20"/>
          <p:cNvSpPr/>
          <p:nvPr/>
        </p:nvSpPr>
        <p:spPr>
          <a:xfrm>
            <a:off x="9144000" y="609600"/>
            <a:ext cx="2095500" cy="2095500"/>
          </a:xfrm>
          <a:prstGeom prst="roundRect">
            <a:avLst>
              <a:gd name="adj" fmla="val 50000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1047750" y="4095750"/>
            <a:ext cx="1333500" cy="1333500"/>
          </a:xfrm>
          <a:prstGeom prst="roundRect">
            <a:avLst>
              <a:gd name="adj" fmla="val 50000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: 圆角 22"/>
          <p:cNvSpPr/>
          <p:nvPr/>
        </p:nvSpPr>
        <p:spPr>
          <a:xfrm>
            <a:off x="17145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>
    <p:sndAc>
      <p:endSnd/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演示总览 · 8 种手势&lt;/Text&gt;&#10;    &lt;/Box&gt;&#10;    &lt;Box style={{ flexDirection: 'row', alignItems: 'center', gap: 10, background: '#143A61', borderRadius: 24, padding: '10px 22px' }}&gt;&#10;      &lt;FAIcon name=&quot;th-large&quot; style={{ fill: '#00D4FF', width: 18, height: 18 }} /&gt;&#10;      &lt;Text style={{ fontSize: 15, color: '#00D4FF' }}&gt;速查表&lt;/Text&gt;&#10;    &lt;/Box&gt;&#10;  &lt;/Box&gt;&#10;  &lt;Box style={{ height: 532, flexDirection: 'column', gap: 14 }}&gt;&#10;    &lt;Box style={{ height: 76, background: '#143A61', borderRadius: 12, padding: '14px 20px', flexDirection: 'column', gap: 6 }}&gt;&#10;      &lt;Text style={{ fontSize: 16, color: '#EAF3FF' }}&gt;放映全程都可以练手：&lt;span style={{ color: '#00D4FF' }}&gt;上滑 / 下滑&lt;/span&gt; 移动链接焦点，&lt;span style={{ color: '#00D4FF' }}&gt;靠近&lt;/span&gt; 打开选中的链接。&lt;/Text&gt;&#10;      &lt;Text style={{ fontSize: 14, color: '#9FBEDD' }}&gt;焦点提示是控件四周的一圈细虚线（PowerPoint 原生）。第 5 页是专门的焦点练习页，那里只有 4 个可聚焦控件，虚线框最明显。&lt;/Text&gt;&#10;    &lt;/Box&gt;&#10;    &lt;Box style={{ height: 428, flexDirection: 'column', gap: 14 }}&gt;&#10;      &lt;Box style={{ flex: 1, flexDirection: 'row', gap: 12 }}&gt;&#10;        &lt;Box style={{ flex: 1, background: '#143A61', borderRadius: 12, padding: '20px 18px', flexDirection: 'column', justifyContent: 'center', gap: 8 }}&gt;&#10;          &lt;Text style={{ fontSize: 22, color: '#EAF3FF', fontWeight: 'bold' }}&gt;右滑&lt;/Text&gt;&#10;          &lt;Text style={{ fontSize: 14, color: '#00D4FF', fontFamily: 'Arial' }}&gt;PageDown · 0x4E&lt;/Text&gt;&#10;          &lt;Text style={{ fontSize: 15, color: '#9FBEDD' }}&gt;翻到下一页&lt;/Text&gt;&#10;        &lt;/Box&gt;&#10;        &lt;Box style={{ flex: 1, background: '#143A61', borderRadius: 12, padding: '20px 18px', flexDirection: 'column', justifyContent: 'center', gap: 8 }}&gt;&#10;          &lt;Text style={{ fontSize: 22, color: '#EAF3FF', fontWeight: 'bold' }}&gt;左滑&lt;/Text&gt;&#10;          &lt;Text style={{ fontSize: 14, color: '#00D4FF', fontFamily: 'Arial' }}&gt;PageUp · 0x4B&lt;/Text&gt;&#10;          &lt;Text style={{ fontSize: 15, color: '#9FBEDD' }}&gt;翻到上一页&lt;/Text&gt;&#10;        &lt;/Box&gt;&#10;        &lt;Box style={{ flex: 1, background: '#143A61', borderRadius: 12, padding: '20px 18px', flexDirection: 'column', justifyContent: 'center', gap: 8 }}&gt;&#10;          &lt;Text style={{ fontSize: 22, color: '#EAF3FF', fontWeight: 'bold' }}&gt;上滑&lt;/Text&gt;&#10;          &lt;Text style={{ fontSize: 14, color: '#00D4FF', fontFamily: 'Arial' }}&gt;Tab · 0x2B&lt;/Text&gt;&#10;          &lt;Text style={{ fontSize: 15, color: '#9FBEDD' }}&gt;下一个链接 / 控件&lt;/Text&gt;&#10;        &lt;/Box&gt;&#10;        &lt;Box style={{ flex: 1, background: '#143A61', borderRadius: 12, padding: '20px 18px', flexDirection: 'column', justifyContent: 'center', gap: 8 }}&gt;&#10;          &lt;Text style={{ fontSize: 22, color: '#EAF3FF', fontWeight: 'bold' }}&gt;下滑&lt;/Text&gt;&#10;          &lt;Text style={{ fontSize: 14, color: '#00D4FF', fontFamily: 'Arial' }}&gt;Shift+Tab&lt;/Text&gt;&#10;          &lt;Text style={{ fontSize: 15, color: '#9FBEDD' }}&gt;上一个链接 / 控件&lt;/Text&gt;&#10;        &lt;/Box&gt;&#10;      &lt;/Box&gt;&#10;      &lt;Box style={{ flex: 1, flexDirection: 'row', gap: 12 }}&gt;&#10;        &lt;Box style={{ flex: 1, background: '#143A61', borderRadius: 12, padding: '20px 18px', flexDirection: 'column', justifyContent: 'center', gap: 8 }}&gt;&#10;          &lt;Text style={{ fontSize: 22, color: '#EAF3FF', fontWeight: 'bold' }}&gt;靠近&lt;/Text&gt;&#10;          &lt;Text style={{ fontSize: 14, color: '#00D4FF', fontFamily: 'Arial' }}&gt;Enter · 0x28&lt;/Text&gt;&#10;          &lt;Text style={{ fontSize: 15, color: '#9FBEDD' }}&gt;打开链接 / 确认&lt;/Text&gt;&#10;        &lt;/Box&gt;&#10;        &lt;Box style={{ flex: 1, background: '#143A61', borderRadius: 12, padding: '20px 18px', flexDirection: 'column', justifyContent: 'center', gap: 8 }}&gt;&#10;          &lt;Text style={{ fontSize: 22, color: '#EAF3FF', fontWeight: 'bold' }}&gt;顺时针&lt;/Text&gt;&#10;          &lt;Text style={{ fontSize: 14, color: '#00D4FF', fontFamily: 'Arial' }}&gt;VOL+ · 0xE9 ×3&lt;/Text&gt;&#10;          &lt;Text style={{ fontSize: 15, color: '#9FBEDD' }}&gt;音量加&lt;/Text&gt;&#10;        &lt;/Box&gt;&#10;        &lt;Box style={{ flex: 1, background: '#143A61', borderRadius: 12, padding: '20px 18px', flexDirection: 'column', justifyContent: 'center', gap: 8 }}&gt;&#10;          &lt;Text style={{ fontSize: 22, color: '#EAF3FF', fontWeight: 'bold' }}&gt;逆时针&lt;/Text&gt;&#10;          &lt;Text style={{ fontSize: 14, color: '#00D4FF', fontFamily: 'Arial' }}&gt;VOL- · 0xEA ×3&lt;/Text&gt;&#10;          &lt;Text style={{ fontSize: 15, color: '#9FBEDD' }}&gt;音量减&lt;/Text&gt;&#10;        &lt;/Box&gt;&#10;        &lt;Box style={{ flex: 1, background: '#143A61', borderRadius: 12, padding: '20px 18px', flexDirection: 'column', justifyContent: 'center', gap: 8 }}&gt;&#10;          &lt;Text style={{ fontSize: 22, color: '#EAF3FF', fontWeight: 'bold' }}&gt;挥手&lt;/Text&gt;&#10;          &lt;Text style={{ fontSize: 14, color: '#00D4FF', fontFamily: 'Arial' }}&gt;Mute · 0xE2&lt;/Text&gt;&#10;          &lt;Text style={{ fontSize: 15, color: '#9FBEDD' }}&gt;静音切换&lt;/Text&gt;&#10;        &lt;/Box&gt;&#10;      &lt;/Box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2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矩形: 圆角 25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00100" y="666750"/>
            <a:ext cx="25622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演示总览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· 8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种手势</a:t>
            </a:r>
            <a:endParaRPr/>
          </a:p>
        </p:txBody>
      </p:sp>
      <p:sp>
        <p:nvSpPr>
          <p:cNvPr id="28" name="矩形: 圆角 27"/>
          <p:cNvSpPr/>
          <p:nvPr/>
        </p:nvSpPr>
        <p:spPr>
          <a:xfrm>
            <a:off x="10506075" y="657225"/>
            <a:ext cx="1114425" cy="361950"/>
          </a:xfrm>
          <a:prstGeom prst="roundRect">
            <a:avLst>
              <a:gd name="adj" fmla="val 63158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5625" y="752475"/>
            <a:ext cx="171450" cy="171450"/>
          </a:xfrm>
          <a:prstGeom prst="rect">
            <a:avLst/>
          </a:prstGeom>
          <a:ln/>
        </p:spPr>
      </p:pic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0982325" y="7524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速查表</a:t>
            </a:r>
            <a:endParaRPr/>
          </a:p>
        </p:txBody>
      </p:sp>
      <p:sp>
        <p:nvSpPr>
          <p:cNvPr id="34" name="矩形: 圆角 33"/>
          <p:cNvSpPr/>
          <p:nvPr/>
        </p:nvSpPr>
        <p:spPr>
          <a:xfrm>
            <a:off x="571500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742950" y="2695575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上</a:t>
            </a:r>
            <a:r>
              <a:rPr lang="zh-CN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742950" y="3028950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PageDown · 0x4E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42950" y="3267075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翻到下一页</a:t>
            </a:r>
            <a:endParaRPr/>
          </a:p>
        </p:txBody>
      </p:sp>
      <p:sp>
        <p:nvSpPr>
          <p:cNvPr id="38" name="矩形: 圆角 37"/>
          <p:cNvSpPr/>
          <p:nvPr/>
        </p:nvSpPr>
        <p:spPr>
          <a:xfrm>
            <a:off x="3362325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3533775" y="2695575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下</a:t>
            </a:r>
            <a:r>
              <a:rPr lang="zh-CN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3533775" y="3028950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PageUp · 0x4B</a:t>
            </a:r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3533775" y="3267075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翻到上一页</a:t>
            </a:r>
            <a:endParaRPr/>
          </a:p>
        </p:txBody>
      </p:sp>
      <p:sp>
        <p:nvSpPr>
          <p:cNvPr id="42" name="矩形: 圆角 41"/>
          <p:cNvSpPr/>
          <p:nvPr/>
        </p:nvSpPr>
        <p:spPr>
          <a:xfrm>
            <a:off x="6153150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324600" y="2695575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左</a:t>
            </a:r>
            <a:r>
              <a:rPr lang="zh-CN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6324600" y="3028950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Tab · 0x2B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6324600" y="3267075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下一个链接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46" name="矩形: 圆角 45"/>
          <p:cNvSpPr/>
          <p:nvPr/>
        </p:nvSpPr>
        <p:spPr>
          <a:xfrm>
            <a:off x="8943975" y="2076450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9115425" y="2695575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右</a:t>
            </a:r>
            <a:r>
              <a:rPr lang="zh-CN" sz="16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9115425" y="3028950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Shift+Tab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9115425" y="3267075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上一个链接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50" name="矩形: 圆角 49"/>
          <p:cNvSpPr/>
          <p:nvPr/>
        </p:nvSpPr>
        <p:spPr>
          <a:xfrm>
            <a:off x="571500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742950" y="4800600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742950" y="5133975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Enter · 0x28</a:t>
            </a:r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742950" y="5372100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打开链接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54" name="矩形: 圆角 53"/>
          <p:cNvSpPr/>
          <p:nvPr/>
        </p:nvSpPr>
        <p:spPr>
          <a:xfrm>
            <a:off x="3362325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3533775" y="4800600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顺时针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3533775" y="5133975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VOL+ · 0xE9 ×3</a:t>
            </a:r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3533775" y="5372100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音量加</a:t>
            </a:r>
            <a:endParaRPr/>
          </a:p>
        </p:txBody>
      </p:sp>
      <p:sp>
        <p:nvSpPr>
          <p:cNvPr id="58" name="矩形: 圆角 57"/>
          <p:cNvSpPr/>
          <p:nvPr/>
        </p:nvSpPr>
        <p:spPr>
          <a:xfrm>
            <a:off x="6153150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6324600" y="4800600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逆时针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324600" y="5133975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VOL- · 0xEA ×3</a:t>
            </a:r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324600" y="5372100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音量减</a:t>
            </a:r>
            <a:endParaRPr/>
          </a:p>
        </p:txBody>
      </p:sp>
      <p:sp>
        <p:nvSpPr>
          <p:cNvPr id="62" name="矩形: 圆角 61"/>
          <p:cNvSpPr/>
          <p:nvPr/>
        </p:nvSpPr>
        <p:spPr>
          <a:xfrm>
            <a:off x="8943975" y="4181475"/>
            <a:ext cx="2676525" cy="1971675"/>
          </a:xfrm>
          <a:prstGeom prst="roundRect">
            <a:avLst>
              <a:gd name="adj" fmla="val 579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9115425" y="4800600"/>
            <a:ext cx="23336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3FF"/>
                </a:solidFill>
                <a:latin typeface="Microsoft YaHei"/>
                <a:ea typeface="Microsoft YaHei"/>
              </a:rPr>
              <a:t>挥手</a:t>
            </a:r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9115425" y="5133975"/>
            <a:ext cx="2333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0D4FF"/>
                </a:solidFill>
                <a:latin typeface="Arial"/>
                <a:ea typeface="Arial"/>
              </a:rPr>
              <a:t>Mute · 0xE2</a:t>
            </a:r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9115425" y="5372100"/>
            <a:ext cx="2333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静音切换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02 / 10</a:t>
            </a:r>
            <a:endParaRPr dirty="0"/>
          </a:p>
        </p:txBody>
      </p:sp>
      <p:sp>
        <p:nvSpPr>
          <p:cNvPr id="69" name="矩形: 圆角 68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73" name="矩形: 圆角 72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75" name="图形 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endSnd/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手势 01 · 右滑翻页&lt;/Text&gt;&#10;    &lt;/Box&gt;&#10;    &lt;Box style={{ flexDirection: 'row', alignItems: 'center', gap: 10, background: '#143A61', borderRadius: 24, padding: '10px 22px', border: '1px solid #00D4FF' }}&gt;&#10;      &lt;FAIcon name=&quot;arrow-right&quot; style={{ fill: '#00D4FF', width: 20, height: 20 }} /&gt;&#10;      &lt;Text style={{ fontSize: 15, color: '#00D4FF' }}&gt;本页手势 · 右滑&lt;/Text&gt;&#10;    &lt;/Box&gt;&#10;  &lt;/Box&gt;&#10;  &lt;Box style={{ height: 532, flexDirection: 'row', gap: 40, alignItems: 'center' }}&gt;&#10;    &lt;Box style={{ width: 420, height: '100%', flexDirection: 'column', justifyContent: 'center', alignItems: 'center', gap: 18 }}&gt;&#10;      &lt;Box style={{ width: 260, height: 260, borderRadius: 130, border: '2px solid #143A61', justifyContent: 'center', alignItems: 'center' }}&gt;&#10;        &lt;FAIcon name=&quot;arrow-right&quot; style={{ fill: '#00D4FF', width: 150, height: 150 }} /&gt;&#10;      &lt;/Box&gt;&#10;      &lt;Text style={{ fontSize: 56, color: '#EAF3FF', fontWeight: 'bold', letterSpacing: 12 }}&gt;右 滑&lt;/Text&gt;&#10;    &lt;/Box&gt;&#10;    &lt;Box style={{ flex: 1, flexDirection: 'column', gap: 20 }}&gt;&#10;      &lt;Box style={{ background: '#143A61', borderRadius: 12, padding: '22px 26px', flexDirection: 'column', gap: 12 }}&gt;&#10;        &lt;Text style={{ fontSize: 17, color: '#9FBEDD' }}&gt;HID 行为 &lt;span style={{ fontSize: 20, color: '#EAF3FF', fontFamily: 'Arial' }}&gt;PageDown (0x4E)&lt;/span&gt;&lt;/Text&gt;&#10;        &lt;Text style={{ fontSize: 17, color: '#9FBEDD' }}&gt;用途 &lt;span style={{ fontSize: 20, color: '#EAF3FF' }}&gt;翻到下一页&lt;/span&gt;&lt;/Text&gt;&#10;      &lt;/Box&gt;&#10;      &lt;Box style={{ background: '#143A61', borderRadius: 12, padding: '26px 26px', flexDirection: 'column', gap: 10, border: '1px solid #00D4FF' }}&gt;&#10;        &lt;Text style={{ fontSize: 16, color: '#00D4FF', fontWeight: 'bold' }}&gt;现场体验&lt;/Text&gt;&#10;        &lt;Text style={{ fontSize: 22, color: '#EAF3FF', lineHeight: 1.6 }}&gt;对着屏幕做一个&lt;span style={{ color: '#00D4FF', fontWeight: 'bold' }}&gt;【右滑】&lt;/span&gt;手势——&lt;br /&gt;页面会立刻翻到下一页。&lt;/Text&gt;&#10;      &lt;/Box&gt;&#10;      &lt;Text style={{ fontSize: 15, color: '#9FBEDD' }}&gt;提示：翻过头了？用【左滑】就能回来，下一页见。&lt;/Text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3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800100" y="666750"/>
            <a:ext cx="24479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01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右滑翻页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1" name="图形 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10429875" y="752475"/>
            <a:ext cx="9810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右滑</a:t>
            </a:r>
            <a:endParaRPr/>
          </a:p>
        </p:txBody>
      </p:sp>
      <p:sp>
        <p:nvSpPr>
          <p:cNvPr id="83" name="矩形: 圆角 82"/>
          <p:cNvSpPr/>
          <p:nvPr/>
        </p:nvSpPr>
        <p:spPr>
          <a:xfrm>
            <a:off x="1333500" y="2105025"/>
            <a:ext cx="2476500" cy="2476500"/>
          </a:xfrm>
          <a:prstGeom prst="roundRect">
            <a:avLst>
              <a:gd name="adj" fmla="val 50000"/>
            </a:avLst>
          </a:prstGeom>
          <a:ln w="254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4" name="图形 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857375" y="2628900"/>
            <a:ext cx="1428750" cy="1428750"/>
          </a:xfrm>
          <a:prstGeom prst="rect">
            <a:avLst/>
          </a:prstGeom>
          <a:ln/>
        </p:spPr>
      </p:pic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1790700" y="4752975"/>
            <a:ext cx="1571625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4200" b="1" spc="900" dirty="0">
                <a:solidFill>
                  <a:srgbClr val="EAF3FF"/>
                </a:solidFill>
                <a:latin typeface="Microsoft YaHei"/>
                <a:ea typeface="Microsoft YaHei"/>
              </a:rPr>
              <a:t>上</a:t>
            </a:r>
            <a:r>
              <a:rPr lang="en-US" sz="4200" b="1" spc="900" dirty="0">
                <a:solidFill>
                  <a:srgbClr val="EAF3FF"/>
                </a:solidFill>
                <a:latin typeface="Microsoft YaHei"/>
                <a:ea typeface="Microsoft YaHei"/>
              </a:rPr>
              <a:t> </a:t>
            </a:r>
            <a:r>
              <a:rPr lang="zh-CN" sz="4200" b="1" spc="900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86" name="矩形: 圆角 85"/>
          <p:cNvSpPr/>
          <p:nvPr/>
        </p:nvSpPr>
        <p:spPr>
          <a:xfrm>
            <a:off x="4953000" y="2190750"/>
            <a:ext cx="6667500" cy="990600"/>
          </a:xfrm>
          <a:prstGeom prst="roundRect">
            <a:avLst>
              <a:gd name="adj" fmla="val 11538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5200650" y="2400300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HID </a:t>
            </a: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行为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 </a:t>
            </a:r>
            <a:r>
              <a:rPr lang="en-US" sz="1500">
                <a:solidFill>
                  <a:srgbClr val="EAF3FF"/>
                </a:solidFill>
                <a:latin typeface="Microsoft YaHei"/>
                <a:ea typeface="Microsoft YaHei"/>
              </a:rPr>
              <a:t>PageDown (0x4E)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5200650" y="2743200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用途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EAF3FF"/>
                </a:solidFill>
                <a:latin typeface="Microsoft YaHei"/>
                <a:ea typeface="Microsoft YaHei"/>
              </a:rPr>
              <a:t>翻到下一页</a:t>
            </a:r>
            <a:endParaRPr/>
          </a:p>
        </p:txBody>
      </p:sp>
      <p:sp>
        <p:nvSpPr>
          <p:cNvPr id="89" name="矩形: 圆角 88"/>
          <p:cNvSpPr/>
          <p:nvPr/>
        </p:nvSpPr>
        <p:spPr>
          <a:xfrm>
            <a:off x="4953000" y="3371850"/>
            <a:ext cx="6667500" cy="1590675"/>
          </a:xfrm>
          <a:prstGeom prst="roundRect">
            <a:avLst>
              <a:gd name="adj" fmla="val 7186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5200650" y="3619500"/>
            <a:ext cx="6172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现场体验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200650" y="3905250"/>
            <a:ext cx="6172200" cy="809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对着屏幕做一个</a:t>
            </a:r>
            <a:r>
              <a:rPr lang="zh-CN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【</a:t>
            </a:r>
            <a:r>
              <a:rPr lang="zh-CN" altLang="en-US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上</a:t>
            </a:r>
            <a:r>
              <a:rPr lang="zh-CN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滑】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手势——</a:t>
            </a:r>
            <a:endParaRPr dirty="0"/>
          </a:p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页面会立刻翻到下一页。</a:t>
            </a:r>
            <a:endParaRPr dirty="0"/>
          </a:p>
        </p:txBody>
      </p:sp>
      <p:sp>
        <p:nvSpPr>
          <p:cNvPr id="93" name="矩形: 圆角 92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03 / 10</a:t>
            </a:r>
            <a:endParaRPr dirty="0"/>
          </a:p>
        </p:txBody>
      </p:sp>
      <p:sp>
        <p:nvSpPr>
          <p:cNvPr id="96" name="矩形: 圆角 95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7" name="图形 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00" name="矩形: 圆角 99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02" name="图形 10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endSnd/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手势 02 · 左滑回翻&lt;/Text&gt;&#10;    &lt;/Box&gt;&#10;    &lt;Box style={{ flexDirection: 'row', alignItems: 'center', gap: 10, background: '#143A61', borderRadius: 24, padding: '10px 22px', border: '1px solid #00D4FF' }}&gt;&#10;      &lt;FAIcon name=&quot;arrow-left&quot; style={{ fill: '#00D4FF', width: 20, height: 20 }} /&gt;&#10;      &lt;Text style={{ fontSize: 15, color: '#00D4FF' }}&gt;本页手势 · 左滑&lt;/Text&gt;&#10;    &lt;/Box&gt;&#10;  &lt;/Box&gt;&#10;  &lt;Box style={{ height: 532, flexDirection: 'row-reverse', gap: 40, alignItems: 'center' }}&gt;&#10;    &lt;Box style={{ width: 420, height: '100%', flexDirection: 'column', justifyContent: 'center', alignItems: 'center', gap: 18 }}&gt;&#10;      &lt;Box style={{ width: 260, height: 260, borderRadius: 130, border: '2px solid #143A61', justifyContent: 'center', alignItems: 'center' }}&gt;&#10;        &lt;FAIcon name=&quot;arrow-left&quot; style={{ fill: '#00D4FF', width: 150, height: 150 }} /&gt;&#10;      &lt;/Box&gt;&#10;      &lt;Text style={{ fontSize: 56, color: '#EAF3FF', fontWeight: 'bold', letterSpacing: 12 }}&gt;左 滑&lt;/Text&gt;&#10;    &lt;/Box&gt;&#10;    &lt;Box style={{ flex: 1, flexDirection: 'column', gap: 20 }}&gt;&#10;      &lt;Box style={{ background: '#143A61', borderRadius: 12, padding: '22px 26px', flexDirection: 'column', gap: 12 }}&gt;&#10;        &lt;Text style={{ fontSize: 17, color: '#9FBEDD' }}&gt;HID 行为 &lt;span style={{ fontSize: 20, color: '#EAF3FF', fontFamily: 'Arial' }}&gt;PageUp (0x4B)&lt;/span&gt;&lt;/Text&gt;&#10;        &lt;Text style={{ fontSize: 17, color: '#9FBEDD' }}&gt;用途 &lt;span style={{ fontSize: 20, color: '#EAF3FF' }}&gt;翻到上一页&lt;/span&gt;&lt;/Text&gt;&#10;      &lt;/Box&gt;&#10;      &lt;Box style={{ background: '#143A61', borderRadius: 12, padding: '26px 26px', flexDirection: 'column', gap: 10, border: '1px solid #00D4FF' }}&gt;&#10;        &lt;Text style={{ fontSize: 16, color: '#00D4FF', fontWeight: 'bold' }}&gt;现场体验&lt;/Text&gt;&#10;        &lt;Text style={{ fontSize: 22, color: '#EAF3FF', lineHeight: 1.6 }}&gt;刚刚就是【右滑】把你送过来的。&lt;br /&gt;现在做一个&lt;span style={{ color: '#00D4FF', fontWeight: 'bold' }}&gt;【左滑】&lt;/span&gt;，回到上一页，&lt;br /&gt;再用【右滑】回到这里。&lt;/Text&gt;&#10;      &lt;/Box&gt;&#10;      &lt;Text style={{ fontSize: 15, color: '#9FBEDD' }}&gt;来回翻两趟，把翻页手势练熟。&lt;/Text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4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" name="矩形: 圆角 104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800100" y="666750"/>
            <a:ext cx="24479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02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左滑回翻</a:t>
            </a:r>
            <a:endParaRPr/>
          </a:p>
        </p:txBody>
      </p:sp>
      <p:sp>
        <p:nvSpPr>
          <p:cNvPr id="107" name="矩形: 圆角 106"/>
          <p:cNvSpPr/>
          <p:nvPr/>
        </p:nvSpPr>
        <p:spPr>
          <a:xfrm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8" name="图形 10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0429875" y="752475"/>
            <a:ext cx="9810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左滑</a:t>
            </a:r>
            <a:endParaRPr/>
          </a:p>
        </p:txBody>
      </p:sp>
      <p:sp>
        <p:nvSpPr>
          <p:cNvPr id="110" name="矩形: 圆角 109"/>
          <p:cNvSpPr/>
          <p:nvPr/>
        </p:nvSpPr>
        <p:spPr>
          <a:xfrm>
            <a:off x="8382000" y="2105025"/>
            <a:ext cx="2476500" cy="2476500"/>
          </a:xfrm>
          <a:prstGeom prst="roundRect">
            <a:avLst>
              <a:gd name="adj" fmla="val 50000"/>
            </a:avLst>
          </a:prstGeom>
          <a:ln w="254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1" name="图形 1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905875" y="2628900"/>
            <a:ext cx="1428750" cy="1428750"/>
          </a:xfrm>
          <a:prstGeom prst="rect">
            <a:avLst/>
          </a:prstGeom>
          <a:ln/>
        </p:spPr>
      </p:pic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8839200" y="4752975"/>
            <a:ext cx="1571625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4200" b="1" spc="900" dirty="0">
                <a:solidFill>
                  <a:srgbClr val="EAF3FF"/>
                </a:solidFill>
                <a:latin typeface="Microsoft YaHei"/>
                <a:ea typeface="Microsoft YaHei"/>
              </a:rPr>
              <a:t>下</a:t>
            </a:r>
            <a:r>
              <a:rPr lang="en-US" sz="4200" b="1" spc="900" dirty="0">
                <a:solidFill>
                  <a:srgbClr val="EAF3FF"/>
                </a:solidFill>
                <a:latin typeface="Microsoft YaHei"/>
                <a:ea typeface="Microsoft YaHei"/>
              </a:rPr>
              <a:t> </a:t>
            </a:r>
            <a:r>
              <a:rPr lang="zh-CN" sz="4200" b="1" spc="900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113" name="矩形: 圆角 112"/>
          <p:cNvSpPr/>
          <p:nvPr/>
        </p:nvSpPr>
        <p:spPr>
          <a:xfrm>
            <a:off x="571500" y="1990725"/>
            <a:ext cx="6667500" cy="990600"/>
          </a:xfrm>
          <a:prstGeom prst="roundRect">
            <a:avLst>
              <a:gd name="adj" fmla="val 11538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819150" y="2200275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HID </a:t>
            </a: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行为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 </a:t>
            </a:r>
            <a:r>
              <a:rPr lang="en-US" sz="1500">
                <a:solidFill>
                  <a:srgbClr val="EAF3FF"/>
                </a:solidFill>
                <a:latin typeface="Microsoft YaHei"/>
                <a:ea typeface="Microsoft YaHei"/>
              </a:rPr>
              <a:t>PageUp (0x4B)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19150" y="2543175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用途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EAF3FF"/>
                </a:solidFill>
                <a:latin typeface="Microsoft YaHei"/>
                <a:ea typeface="Microsoft YaHei"/>
              </a:rPr>
              <a:t>翻到上一页</a:t>
            </a:r>
            <a:endParaRPr/>
          </a:p>
        </p:txBody>
      </p:sp>
      <p:sp>
        <p:nvSpPr>
          <p:cNvPr id="116" name="矩形: 圆角 115"/>
          <p:cNvSpPr/>
          <p:nvPr/>
        </p:nvSpPr>
        <p:spPr>
          <a:xfrm>
            <a:off x="571500" y="3171825"/>
            <a:ext cx="6667500" cy="1990725"/>
          </a:xfrm>
          <a:prstGeom prst="roundRect">
            <a:avLst>
              <a:gd name="adj" fmla="val 5742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19150" y="3419475"/>
            <a:ext cx="6172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现场体验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819150" y="3705225"/>
            <a:ext cx="6172200" cy="1209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刚刚就是【</a:t>
            </a:r>
            <a:r>
              <a:rPr lang="zh-CN" altLang="en-US" sz="1650" dirty="0">
                <a:solidFill>
                  <a:srgbClr val="EAF3FF"/>
                </a:solidFill>
                <a:latin typeface="Microsoft YaHei"/>
                <a:ea typeface="Microsoft YaHei"/>
              </a:rPr>
              <a:t>上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滑】把你送过来的。</a:t>
            </a:r>
            <a:endParaRPr dirty="0"/>
          </a:p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现在做一个</a:t>
            </a:r>
            <a:r>
              <a:rPr lang="zh-CN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【</a:t>
            </a:r>
            <a:r>
              <a:rPr lang="zh-CN" altLang="en-US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下</a:t>
            </a:r>
            <a:r>
              <a:rPr lang="zh-CN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滑】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，回到上一页，</a:t>
            </a:r>
            <a:endParaRPr dirty="0"/>
          </a:p>
          <a:p>
            <a:pPr>
              <a:lnSpc>
                <a:spcPct val="16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再用【</a:t>
            </a:r>
            <a:r>
              <a:rPr lang="zh-CN" altLang="en-US" sz="1650" dirty="0">
                <a:solidFill>
                  <a:srgbClr val="EAF3FF"/>
                </a:solidFill>
                <a:latin typeface="Microsoft YaHei"/>
                <a:ea typeface="Microsoft YaHei"/>
              </a:rPr>
              <a:t>上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滑】回到这里。</a:t>
            </a:r>
            <a:endParaRPr dirty="0"/>
          </a:p>
        </p:txBody>
      </p:sp>
      <p:sp>
        <p:nvSpPr>
          <p:cNvPr id="120" name="矩形: 圆角 119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04 / 10</a:t>
            </a:r>
            <a:endParaRPr dirty="0"/>
          </a:p>
        </p:txBody>
      </p:sp>
      <p:sp>
        <p:nvSpPr>
          <p:cNvPr id="123" name="矩形: 圆角 122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4" name="图形 1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27" name="矩形: 圆角 126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29" name="图形 1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endSnd/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0px 60px 20px 60px' }}&gt;&#10;  &lt;Box style={{ height: 72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手势 03 / 04 · 上滑与下滑移动焦点&lt;/Text&gt;&#10;    &lt;/Box&gt;&#10;    &lt;Box style={{ flexDirection: 'row', alignItems: 'center', gap: 10, background: '#143A61', borderRadius: 24, padding: '10px 22px', border: '1px solid #00D4FF' }}&gt;&#10;      &lt;FAIcon name=&quot;arrows-alt-v&quot; style={{ fill: '#00D4FF', width: 20, height: 20 }} /&gt;&#10;      &lt;Text style={{ fontSize: 15, color: '#00D4FF' }}&gt;本页手势 · 上滑 / 下滑 + 靠近&lt;/Text&gt;&#10;    &lt;/Box&gt;&#10;  &lt;/Box&gt;&#10;  &lt;Box style={{ height: 548, flexDirection: 'column', gap: 12 }}&gt;&#10;    &lt;Box style={{ height: 90, background: '#143A61', borderRadius: 12, padding: '16px 22px', flexDirection: 'column', gap: 8 }}&gt;&#10;      &lt;Text style={{ fontSize: 17, color: '#EAF3FF' }}&gt;&lt;span style={{ color: '#00D4FF', fontWeight: 'bold' }}&gt;上滑 = Tab&lt;/span&gt;（焦点移到下一个控件）· &lt;span style={{ color: '#00D4FF', fontWeight: 'bold' }}&gt;下滑 = Shift+Tab&lt;/span&gt;（移回上一个）· &lt;span style={{ color: '#00D4FF', fontWeight: 'bold' }}&gt;靠近 = Enter&lt;/span&gt;（确认跳转）&lt;/Text&gt;&#10;      &lt;Text style={{ fontSize: 15, color: '#9FBEDD' }}&gt;焦点所在的控件会出现一圈&lt;span style={{ color: '#EAF3FF' }}&gt;虚线选中框&lt;/span&gt;——这是 PowerPoint 的原生提示：框在哪个控件上，按 Enter 就跳哪个控件。&lt;/Text&gt;&#10;    &lt;/Box&gt;&#10;    &lt;Box style={{ height: 358, flexDirection: 'column', gap: 16 }}&gt;&#10;      &lt;Box style={{ flex: 1, flexDirection: 'row', gap: 16, alignItems: 'center' }}&gt;&#10;        &lt;Box href=&quot;ppaction://hlinksldjump?slide=6&quot; style={{ flex: 1, height: 171, background: '#16416C', borderRadius: 14, border: '2px solid #00D4FF', justifyContent: 'center', alignItems: 'center' }}&gt;&#10;          &lt;Text style={{ fontSize: 21, color: '#EAF3FF', fontWeight: 'bold' }}&gt;控件 1 &lt;span style={{ color: '#00D4FF', fontSize: 16 }}&gt;· Enter 跳「靠近演示」· 第 6 页&lt;/span&gt;&lt;/Text&gt;&#10;        &lt;/Box&gt;&#10;        &lt;Box href=&quot;ppaction://hlinksldjump?slide=4&quot; style={{ flex: 1, height: 171, background: '#16416C', borderRadius: 14, border: '2px solid #00D4FF', justifyContent: 'center', alignItems: 'center' }}&gt;&#10;          &lt;Text style={{ fontSize: 21, color: '#EAF3FF', fontWeight: 'bold' }}&gt;控件 2 &lt;span style={{ color: '#00D4FF', fontSize: 16 }}&gt;· Enter 跳「左滑演示」· 第 4 页&lt;/span&gt;&lt;/Text&gt;&#10;        &lt;/Box&gt;&#10;      &lt;/Box&gt;&#10;      &lt;Box style={{ flex: 1, flexDirection: 'row', gap: 16, alignItems: 'center' }}&gt;&#10;        &lt;Box href=&quot;ppaction://hlinksldjump?slide=3&quot; style={{ flex: 1, height: 171, background: '#16416C', borderRadius: 14, border: '2px solid #00D4FF', justifyContent: 'center', alignItems: 'center' }}&gt;&#10;          &lt;Text style={{ fontSize: 21, color: '#EAF3FF', fontWeight: 'bold' }}&gt;控件 3 &lt;span style={{ color: '#00D4FF', fontSize: 16 }}&gt;· Enter 跳「右滑演示」· 第 3 页&lt;/span&gt;&lt;/Text&gt;&#10;        &lt;/Box&gt;&#10;        &lt;Box href=&quot;ppaction://hlinksldjump?slide=1&quot; style={{ flex: 1, height: 171, background: '#16416C', borderRadius: 14, border: '2px solid #00D4FF', justifyContent: 'center', alignItems: 'center' }}&gt;&#10;          &lt;Text style={{ fontSize: 21, color: '#EAF3FF', fontWeight: 'bold' }}&gt;控件 4 &lt;span style={{ color: '#00D4FF', fontSize: 16 }}&gt;· Enter 跳「封面 · 重播」· 第 1 页&lt;/span&gt;&lt;/Text&gt;&#10;        &lt;/Box&gt;&#10;      &lt;/Box&gt;&#10;    &lt;/Box&gt;&#10;    &lt;Box style={{ height: 76, background: '#0F3357', borderRadius: 12, borderLeft: '4px solid #FFC53D', padding: '12px 22px', flexDirection: 'column', gap: 6 }}&gt;&#10;      &lt;Text style={{ fontSize: 16, color: '#FFC53D' }}&gt;练习：上滑 / 下滑 移动虚线框选中一张卡，再按 &lt;span style={{ fontWeight: 'bold' }}&gt;靠近（Enter）&lt;/span&gt;跳转。&lt;/Text&gt;&#10;      &lt;Text style={{ fontSize: 14, color: '#9FBEDD' }}&gt;四张卡里只有「控件 1」是往后走一页（第 6 页），另外三张都回到前面演过的页面 —— 随你怎么跳，中间都不会漏页。&lt;/Text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5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" name="矩形: 圆角 131"/>
          <p:cNvSpPr/>
          <p:nvPr/>
        </p:nvSpPr>
        <p:spPr>
          <a:xfrm>
            <a:off x="571500" y="5334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800100" y="552450"/>
            <a:ext cx="4543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03 / 04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上滑与下滑移动焦点</a:t>
            </a:r>
            <a:endParaRPr/>
          </a:p>
        </p:txBody>
      </p:sp>
      <p:sp>
        <p:nvSpPr>
          <p:cNvPr id="134" name="矩形: 圆角 133"/>
          <p:cNvSpPr/>
          <p:nvPr/>
        </p:nvSpPr>
        <p:spPr>
          <a:xfrm>
            <a:off x="9029700" y="533400"/>
            <a:ext cx="2590800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5" name="图形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9250" y="628650"/>
            <a:ext cx="190500" cy="190500"/>
          </a:xfrm>
          <a:prstGeom prst="rect">
            <a:avLst/>
          </a:prstGeom>
          <a:ln/>
        </p:spPr>
      </p:pic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9525000" y="638175"/>
            <a:ext cx="1885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alt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左</a:t>
            </a:r>
            <a:r>
              <a:rPr lang="zh-CN" sz="1125" dirty="0">
                <a:solidFill>
                  <a:srgbClr val="00D4FF"/>
                </a:solidFill>
                <a:latin typeface="Microsoft YaHei"/>
                <a:ea typeface="Microsoft YaHei"/>
              </a:rPr>
              <a:t>滑</a:t>
            </a:r>
            <a:r>
              <a:rPr 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 / </a:t>
            </a:r>
            <a:r>
              <a:rPr lang="zh-CN" alt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右</a:t>
            </a:r>
            <a:r>
              <a:rPr lang="zh-CN" sz="1125" dirty="0">
                <a:solidFill>
                  <a:srgbClr val="00D4FF"/>
                </a:solidFill>
                <a:latin typeface="Microsoft YaHei"/>
                <a:ea typeface="Microsoft YaHei"/>
              </a:rPr>
              <a:t>滑</a:t>
            </a:r>
            <a:r>
              <a:rPr 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 + </a:t>
            </a:r>
            <a:r>
              <a:rPr lang="zh-CN" sz="1125" dirty="0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endParaRPr dirty="0"/>
          </a:p>
        </p:txBody>
      </p:sp>
      <p:sp>
        <p:nvSpPr>
          <p:cNvPr id="137" name="矩形: 圆角 136"/>
          <p:cNvSpPr/>
          <p:nvPr/>
        </p:nvSpPr>
        <p:spPr>
          <a:xfrm>
            <a:off x="571500" y="1066800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781050" y="1219200"/>
            <a:ext cx="10629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左</a:t>
            </a:r>
            <a:r>
              <a:rPr lang="zh-CN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滑</a:t>
            </a:r>
            <a:r>
              <a:rPr lang="en-US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 = Tab</a:t>
            </a:r>
            <a:r>
              <a:rPr lang="zh-CN" sz="1275" dirty="0">
                <a:solidFill>
                  <a:srgbClr val="EAF3FF"/>
                </a:solidFill>
                <a:latin typeface="Microsoft YaHei"/>
                <a:ea typeface="Microsoft YaHei"/>
              </a:rPr>
              <a:t>（焦点移到下一个控件）·</a:t>
            </a:r>
            <a:r>
              <a:rPr lang="en-US" sz="1275" dirty="0">
                <a:solidFill>
                  <a:srgbClr val="EAF3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右</a:t>
            </a:r>
            <a:r>
              <a:rPr lang="zh-CN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滑</a:t>
            </a:r>
            <a:r>
              <a:rPr lang="en-US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 = </a:t>
            </a:r>
            <a:r>
              <a:rPr lang="en-US" sz="1275" b="1" dirty="0" err="1">
                <a:solidFill>
                  <a:srgbClr val="00D4FF"/>
                </a:solidFill>
                <a:latin typeface="Microsoft YaHei"/>
                <a:ea typeface="Microsoft YaHei"/>
              </a:rPr>
              <a:t>Shift+Tab</a:t>
            </a:r>
            <a:r>
              <a:rPr lang="zh-CN" sz="1275" dirty="0">
                <a:solidFill>
                  <a:srgbClr val="EAF3FF"/>
                </a:solidFill>
                <a:latin typeface="Microsoft YaHei"/>
                <a:ea typeface="Microsoft YaHei"/>
              </a:rPr>
              <a:t>（移回上一个）·</a:t>
            </a:r>
            <a:r>
              <a:rPr lang="en-US" sz="1275" dirty="0">
                <a:solidFill>
                  <a:srgbClr val="EAF3FF"/>
                </a:solidFill>
                <a:latin typeface="Microsoft YaHei"/>
                <a:ea typeface="Microsoft YaHei"/>
              </a:rPr>
              <a:t> </a:t>
            </a:r>
            <a:r>
              <a:rPr lang="zh-CN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r>
              <a:rPr lang="en-US" sz="1275" b="1" dirty="0">
                <a:solidFill>
                  <a:srgbClr val="00D4FF"/>
                </a:solidFill>
                <a:latin typeface="Microsoft YaHei"/>
                <a:ea typeface="Microsoft YaHei"/>
              </a:rPr>
              <a:t> = Enter</a:t>
            </a:r>
            <a:r>
              <a:rPr lang="zh-CN" sz="1275" dirty="0">
                <a:solidFill>
                  <a:srgbClr val="EAF3FF"/>
                </a:solidFill>
                <a:latin typeface="Microsoft YaHei"/>
                <a:ea typeface="Microsoft YaHei"/>
              </a:rPr>
              <a:t>（确认跳转）</a:t>
            </a:r>
            <a:endParaRPr dirty="0"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81050" y="1495425"/>
            <a:ext cx="10629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焦点所在的控件会出现一圈</a:t>
            </a: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虚线选中框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——这是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> PowerPoint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的原生提示：框在哪个控件上，按</a:t>
            </a:r>
            <a:r>
              <a:rPr lang="en-US" sz="1125">
                <a:solidFill>
                  <a:srgbClr val="9FBEDD"/>
                </a:solidFill>
                <a:latin typeface="Microsoft YaHei"/>
                <a:ea typeface="Microsoft YaHei"/>
              </a:rPr>
              <a:t> Enter </a:t>
            </a:r>
            <a:r>
              <a:rPr lang="zh-CN" sz="1125">
                <a:solidFill>
                  <a:srgbClr val="9FBEDD"/>
                </a:solidFill>
                <a:latin typeface="Microsoft YaHei"/>
                <a:ea typeface="Microsoft YaHei"/>
              </a:rPr>
              <a:t>就跳哪个控件。</a:t>
            </a:r>
            <a:endParaRPr/>
          </a:p>
        </p:txBody>
      </p:sp>
      <p:sp>
        <p:nvSpPr>
          <p:cNvPr id="141" name="矩形: 圆角 140">
            <a:hlinkClick r:id="rId3" action="ppaction://hlinksldjump"/>
          </p:cNvPr>
          <p:cNvSpPr/>
          <p:nvPr/>
        </p:nvSpPr>
        <p:spPr>
          <a:xfrm>
            <a:off x="571500" y="2038350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1857375" y="2733675"/>
            <a:ext cx="28765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> 1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跳「靠近演示」·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6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44" name="矩形: 圆角 143">
            <a:hlinkClick r:id="rId4" action="ppaction://hlinksldjump"/>
          </p:cNvPr>
          <p:cNvSpPr/>
          <p:nvPr/>
        </p:nvSpPr>
        <p:spPr>
          <a:xfrm>
            <a:off x="6172200" y="2038350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458075" y="2733675"/>
            <a:ext cx="28765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> 2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跳「左滑演示」·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4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47" name="矩形: 圆角 146">
            <a:hlinkClick r:id="rId5" action="ppaction://hlinksldjump"/>
          </p:cNvPr>
          <p:cNvSpPr/>
          <p:nvPr/>
        </p:nvSpPr>
        <p:spPr>
          <a:xfrm>
            <a:off x="571500" y="3819525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857375" y="4514850"/>
            <a:ext cx="28765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> 3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跳「右滑演示」·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3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50" name="矩形: 圆角 149">
            <a:hlinkClick r:id="rId6" action="ppaction://hlinksldjump"/>
          </p:cNvPr>
          <p:cNvSpPr/>
          <p:nvPr/>
        </p:nvSpPr>
        <p:spPr>
          <a:xfrm>
            <a:off x="6172200" y="3819525"/>
            <a:ext cx="5448300" cy="1628775"/>
          </a:xfrm>
          <a:prstGeom prst="roundRect">
            <a:avLst>
              <a:gd name="adj" fmla="val 8187"/>
            </a:avLst>
          </a:prstGeom>
          <a:solidFill>
            <a:srgbClr val="16416C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7381875" y="4514850"/>
            <a:ext cx="30289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3FF"/>
                </a:solidFill>
                <a:latin typeface="Microsoft YaHei"/>
                <a:ea typeface="Microsoft YaHei"/>
              </a:rPr>
              <a:t>控件</a:t>
            </a:r>
            <a:r>
              <a:rPr lang="en-US" sz="1575" b="1">
                <a:solidFill>
                  <a:srgbClr val="EAF3FF"/>
                </a:solidFill>
                <a:latin typeface="Microsoft YaHei"/>
                <a:ea typeface="Microsoft YaHei"/>
              </a:rPr>
              <a:t> 4 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· Enter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跳「封面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重播」·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0D4FF"/>
                </a:solidFill>
                <a:latin typeface="Microsoft YaHei"/>
                <a:ea typeface="Microsoft YaHei"/>
              </a:rPr>
              <a:t> 1 </a:t>
            </a:r>
            <a:r>
              <a:rPr lang="zh-CN" sz="1200" b="1">
                <a:solidFill>
                  <a:srgbClr val="00D4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56" name="矩形: 圆角 155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05 / 10</a:t>
            </a:r>
            <a:endParaRPr dirty="0"/>
          </a:p>
        </p:txBody>
      </p:sp>
      <p:sp>
        <p:nvSpPr>
          <p:cNvPr id="159" name="矩形: 圆角 158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0" name="图形 1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63" name="矩形: 圆角 162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165" name="图形 1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endSnd/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手势 05 · 靠近打开链接&lt;/Text&gt;&#10;    &lt;/Box&gt;&#10;    &lt;Box style={{ flexDirection: 'row', alignItems: 'center', gap: 10, background: '#143A61', borderRadius: 24, padding: '10px 22px', border: '1px solid #00D4FF' }}&gt;&#10;      &lt;FAIcon name=&quot;compress&quot; style={{ fill: '#00D4FF', width: 20, height: 20 }} /&gt;&#10;      &lt;Text style={{ fontSize: 15, color: '#00D4FF' }}&gt;本页手势 · 靠近&lt;/Text&gt;&#10;    &lt;/Box&gt;&#10;  &lt;/Box&gt;&#10;  &lt;Box style={{ height: 532, flexDirection: 'column', justifyContent: 'center', alignItems: 'center', gap: 32 }}&gt;&#10;    &lt;Box href=&quot;ppaction://hlinkshowjump?jump=nextslide&quot; style={{ width: 700, height: 190, background: '#143A61', borderRadius: 16, border: '2px solid #00D4FF', flexDirection: 'row', alignItems: 'center', justifyContent: 'center', gap: 24 }}&gt;&#10;      &lt;Box style={{ width: 84, height: 84, borderRadius: 42, background: '#00D4FF', justifyContent: 'center', alignItems: 'center' }}&gt;&#10;        &lt;FAIcon name=&quot;play&quot; style={{ fill: '#0C2A4A', width: 40, height: 40 }} /&gt;&#10;      &lt;/Box&gt;&#10;      &lt;Box style={{ flexDirection: 'column', gap: 8 }}&gt;&#10;        &lt;Text style={{ fontSize: 30, color: '#EAF3FF', fontWeight: 'bold' }}&gt;跳到下一页 · 播放音乐&lt;/Text&gt;&#10;        &lt;Text style={{ fontSize: 16, color: '#9FBEDD' }}&gt;音乐已内置在下一页，进入即自动播放，不跳出放映&lt;/Text&gt;&#10;      &lt;/Box&gt;&#10;    &lt;/Box&gt;&#10;    &lt;Box style={{ flexDirection: 'row', gap: 16, alignItems: 'center' }}&gt;&#10;      &lt;Box style={{ background: '#143A61', borderRadius: 10, padding: '12px 22px', flexDirection: 'row', alignItems: 'center', gap: 10 }}&gt;&#10;        &lt;Text style={{ fontSize: 15, color: '#00D4FF', fontWeight: 'bold', fontFamily: 'Arial' }}&gt;①&lt;/Text&gt;&#10;        &lt;Text style={{ fontSize: 15, color: '#EAF3FF' }}&gt;上滑 / 下滑 把焦点移到大按钮&lt;/Text&gt;&#10;      &lt;/Box&gt;&#10;      &lt;FAIcon name=&quot;arrow-right&quot; style={{ fill: '#9FBEDD', width: 18, height: 18 }} /&gt;&#10;      &lt;Box style={{ background: '#143A61', borderRadius: 10, padding: '12px 22px', flexDirection: 'row', alignItems: 'center', gap: 10 }}&gt;&#10;        &lt;Text style={{ fontSize: 15, color: '#00D4FF', fontWeight: 'bold', fontFamily: 'Arial' }}&gt;②&lt;/Text&gt;&#10;        &lt;Text style={{ fontSize: 15, color: '#EAF3FF' }}&gt;做一个【靠近】手势 = Enter&lt;/Text&gt;&#10;      &lt;/Box&gt;&#10;      &lt;FAIcon name=&quot;arrow-right&quot; style={{ fill: '#9FBEDD', width: 18, height: 18 }} /&gt;&#10;      &lt;Box style={{ background: '#143A61', borderRadius: 10, padding: '12px 22px', flexDirection: 'row', alignItems: 'center', gap: 10 }}&gt;&#10;        &lt;Text style={{ fontSize: 15, color: '#00D4FF', fontWeight: 'bold', fontFamily: 'Arial' }}&gt;③&lt;/Text&gt;&#10;        &lt;Text style={{ fontSize: 15, color: '#EAF3FF' }}&gt;翻到下一页，音乐响起&lt;/Text&gt;&#10;      &lt;/Box&gt;&#10;    &lt;/Box&gt;&#10;    &lt;Text style={{ fontSize: 15, color: '#9FBEDD' }}&gt;HID：Enter (0x28) —— 打开选中的链接 / 确认。链接指向的是下一页，全程留在演示里。&lt;/Text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6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 1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" name="矩形: 圆角 167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00100" y="666750"/>
            <a:ext cx="3019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05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靠近打开链接</a:t>
            </a:r>
            <a:endParaRPr/>
          </a:p>
        </p:txBody>
      </p:sp>
      <p:sp>
        <p:nvSpPr>
          <p:cNvPr id="170" name="矩形: 圆角 169"/>
          <p:cNvSpPr/>
          <p:nvPr/>
        </p:nvSpPr>
        <p:spPr>
          <a:xfrm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1" name="图形 1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0429875" y="752475"/>
            <a:ext cx="9810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174" name="矩形: 圆角 173">
            <a:hlinkClick r:id="" action="ppaction://hlinkshowjump?jump=nextslide"/>
          </p:cNvPr>
          <p:cNvSpPr/>
          <p:nvPr/>
        </p:nvSpPr>
        <p:spPr>
          <a:xfrm>
            <a:off x="2762250" y="2257425"/>
            <a:ext cx="6667500" cy="1809750"/>
          </a:xfrm>
          <a:prstGeom prst="roundRect">
            <a:avLst>
              <a:gd name="adj" fmla="val 8421"/>
            </a:avLst>
          </a:prstGeom>
          <a:solidFill>
            <a:srgbClr val="143A61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矩形: 圆角 174"/>
          <p:cNvSpPr/>
          <p:nvPr/>
        </p:nvSpPr>
        <p:spPr>
          <a:xfrm>
            <a:off x="3829050" y="27622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6" name="图形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8600" y="2971800"/>
            <a:ext cx="381000" cy="381000"/>
          </a:xfrm>
          <a:prstGeom prst="rect">
            <a:avLst/>
          </a:prstGeom>
          <a:ln/>
        </p:spPr>
      </p:pic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4857750" y="2857500"/>
            <a:ext cx="3505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跳到下一页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播放音乐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857750" y="3276600"/>
            <a:ext cx="3505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EDD"/>
                </a:solidFill>
                <a:latin typeface="Microsoft YaHei"/>
                <a:ea typeface="Microsoft YaHei"/>
              </a:rPr>
              <a:t>音乐已内置在下一页，进入即自动播放，不跳出放映</a:t>
            </a:r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1962150" y="4371975"/>
            <a:ext cx="2619375" cy="400050"/>
          </a:xfrm>
          <a:prstGeom prst="roundRect">
            <a:avLst>
              <a:gd name="adj" fmla="val 23810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2171700" y="4486275"/>
            <a:ext cx="2000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0D4FF"/>
                </a:solidFill>
                <a:latin typeface="Arial"/>
                <a:ea typeface="Arial"/>
              </a:rPr>
              <a:t>①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2466975" y="4486275"/>
            <a:ext cx="1905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上滑</a:t>
            </a:r>
            <a:r>
              <a:rPr lang="en-US" sz="1125">
                <a:solidFill>
                  <a:srgbClr val="EAF3FF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下滑</a:t>
            </a:r>
            <a:r>
              <a:rPr lang="en-US" sz="1125">
                <a:solidFill>
                  <a:srgbClr val="EAF3FF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把焦点移到大按钮</a:t>
            </a:r>
            <a:endParaRPr/>
          </a:p>
        </p:txBody>
      </p:sp>
      <p:pic>
        <p:nvPicPr>
          <p:cNvPr id="182" name="图形 1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3925" y="4486275"/>
            <a:ext cx="171450" cy="171450"/>
          </a:xfrm>
          <a:prstGeom prst="rect">
            <a:avLst/>
          </a:prstGeom>
          <a:ln/>
        </p:spPr>
      </p:pic>
      <p:sp>
        <p:nvSpPr>
          <p:cNvPr id="183" name="矩形: 圆角 182"/>
          <p:cNvSpPr/>
          <p:nvPr/>
        </p:nvSpPr>
        <p:spPr>
          <a:xfrm>
            <a:off x="5057775" y="4371975"/>
            <a:ext cx="2552700" cy="400050"/>
          </a:xfrm>
          <a:prstGeom prst="roundRect">
            <a:avLst>
              <a:gd name="adj" fmla="val 23810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5267325" y="4486275"/>
            <a:ext cx="2000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0D4FF"/>
                </a:solidFill>
                <a:latin typeface="Arial"/>
                <a:ea typeface="Arial"/>
              </a:rPr>
              <a:t>②</a:t>
            </a:r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562600" y="4486275"/>
            <a:ext cx="1838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做一个【靠近】手势</a:t>
            </a:r>
            <a:r>
              <a:rPr lang="en-US" sz="1125">
                <a:solidFill>
                  <a:srgbClr val="EAF3FF"/>
                </a:solidFill>
                <a:latin typeface="Microsoft YaHei"/>
                <a:ea typeface="Microsoft YaHei"/>
              </a:rPr>
              <a:t> = Enter</a:t>
            </a:r>
            <a:endParaRPr/>
          </a:p>
        </p:txBody>
      </p:sp>
      <p:pic>
        <p:nvPicPr>
          <p:cNvPr id="186" name="图形 18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2875" y="4486275"/>
            <a:ext cx="171450" cy="171450"/>
          </a:xfrm>
          <a:prstGeom prst="rect">
            <a:avLst/>
          </a:prstGeom>
          <a:ln/>
        </p:spPr>
      </p:pic>
      <p:sp>
        <p:nvSpPr>
          <p:cNvPr id="187" name="矩形: 圆角 186"/>
          <p:cNvSpPr/>
          <p:nvPr/>
        </p:nvSpPr>
        <p:spPr>
          <a:xfrm>
            <a:off x="8086725" y="4371975"/>
            <a:ext cx="2143125" cy="400050"/>
          </a:xfrm>
          <a:prstGeom prst="roundRect">
            <a:avLst>
              <a:gd name="adj" fmla="val 23810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296275" y="4486275"/>
            <a:ext cx="2000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0D4FF"/>
                </a:solidFill>
                <a:latin typeface="Arial"/>
                <a:ea typeface="Arial"/>
              </a:rPr>
              <a:t>③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8591550" y="4486275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EAF3FF"/>
                </a:solidFill>
                <a:latin typeface="Microsoft YaHei"/>
                <a:ea typeface="Microsoft YaHei"/>
              </a:rPr>
              <a:t>翻到下一页，音乐响起</a:t>
            </a:r>
            <a:endParaRPr/>
          </a:p>
        </p:txBody>
      </p:sp>
      <p:sp>
        <p:nvSpPr>
          <p:cNvPr id="191" name="矩形: 圆角 190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06 / 10</a:t>
            </a:r>
            <a:endParaRPr dirty="0"/>
          </a:p>
        </p:txBody>
      </p:sp>
      <p:sp>
        <p:nvSpPr>
          <p:cNvPr id="194" name="矩形: 圆角 193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5" name="图形 19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198" name="矩形: 圆角 197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200" name="图形 19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endSnd/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手势 06 / 07 · 顺时针与逆时针调音量&lt;/Text&gt;&#10;    &lt;/Box&gt;&#10;    &lt;Box style={{ flexDirection: 'row', alignItems: 'center', gap: 10, background: '#143A61', borderRadius: 24, padding: '10px 22px', border: '1px solid #00D4FF' }}&gt;&#10;      &lt;FAIcon name=&quot;redo&quot; style={{ fill: '#00D4FF', width: 20, height: 20 }} /&gt;&#10;      &lt;Text style={{ fontSize: 15, color: '#00D4FF' }}&gt;本页手势 · 顺 / 逆时针&lt;/Text&gt;&#10;    &lt;/Box&gt;&#10;  &lt;/Box&gt;&#10;  &lt;Box style={{ height: 532, flexDirection: 'column', gap: 20 }}&gt;&#10;    &lt;Box style={{ height: 300, flexDirection: 'row', gap: 20 }}&gt;&#10;      &lt;Box style={{ flex: 1, background: '#143A61', borderRadius: 14, padding: '26px 30px', flexDirection: 'column', gap: 14, justifyContent: 'center' }}&gt;&#10;        &lt;Box style={{ flexDirection: 'row', alignItems: 'center', gap: 16 }}&gt;&#10;          &lt;FAIcon name=&quot;redo&quot; style={{ fill: '#00D4FF', width: 52, height: 52 }} /&gt;&#10;          &lt;Text style={{ fontSize: 26, color: '#EAF3FF', fontWeight: 'bold' }}&gt;顺时针 ×3&lt;/Text&gt;&#10;        &lt;/Box&gt;&#10;        &lt;Text style={{ fontSize: 16, color: '#9FBEDD' }}&gt;HID &lt;span style={{ fontSize: 17, color: '#EAF3FF', fontFamily: 'Arial' }}&gt;Consumer VOL+ (0xE9) ×3&lt;/span&gt;&lt;/Text&gt;&#10;        &lt;Text style={{ fontSize: 26, color: '#00D4FF', fontWeight: 'bold' }}&gt;音量 +&lt;/Text&gt;&#10;      &lt;/Box&gt;&#10;      &lt;Box style={{ flex: 1, background: '#143A61', borderRadius: 14, padding: '26px 30px', flexDirection: 'column', gap: 14, justifyContent: 'center' }}&gt;&#10;        &lt;Box style={{ flexDirection: 'row', alignItems: 'center', gap: 16 }}&gt;&#10;          &lt;FAIcon name=&quot;undo&quot; style={{ fill: '#00D4FF', width: 52, height: 52 }} /&gt;&#10;          &lt;Text style={{ fontSize: 26, color: '#EAF3FF', fontWeight: 'bold' }}&gt;逆时针 ×3&lt;/Text&gt;&#10;        &lt;/Box&gt;&#10;        &lt;Text style={{ fontSize: 16, color: '#9FBEDD' }}&gt;HID &lt;span style={{ fontSize: 17, color: '#EAF3FF', fontFamily: 'Arial' }}&gt;Consumer VOL- (0xEA) ×3&lt;/span&gt;&lt;/Text&gt;&#10;        &lt;Text style={{ fontSize: 26, color: '#00D4FF', fontWeight: 'bold' }}&gt;音量 −&lt;/Text&gt;&#10;      &lt;/Box&gt;&#10;    &lt;/Box&gt;&#10;    &lt;Box style={{ height: 212, background: '#143A61', borderRadius: 12, padding: '22px 26px', flexDirection: 'row', gap: 20, border: '1px solid #00D4FF' }}&gt;&#10;      &lt;Box style={{ flex: 1, flexDirection: 'column', gap: 10 }}&gt;&#10;        &lt;Text style={{ fontSize: 16, color: '#00D4FF', fontWeight: 'bold' }}&gt;现场体验 · 本页音乐已自动播放&lt;/Text&gt;&#10;        &lt;Text style={{ fontSize: 19, color: '#EAF3FF', lineHeight: 1.7 }}&gt;现在交替做【顺时针】和【逆时针】手势，&lt;br /&gt;音乐大小变化立刻听得见——&lt;br /&gt;音频文件已内嵌在演示文稿里，不联网、不跳转。&lt;/Text&gt;&#10;      &lt;/Box&gt;&#10;      &lt;Box style={{ width: 120, height: '100%', justifyContent: 'flex-end', alignItems: 'flex-end' }}&gt;&#10;        &lt;Box style={{ width: 72, height: 72, borderRadius: 36, border: '1px solid #00D4FF', justifyContent: 'center', alignItems: 'center' }}&gt;&#10;          &lt;FAIcon name=&quot;music&quot; style={{ fill: '#00D4FF', width: 32, height: 32 }} /&gt;&#10;        &lt;/Box&gt;&#10;      &lt;/Box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7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 2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3" name="矩形: 圆角 202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00100" y="666750"/>
            <a:ext cx="48291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06 / 07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顺时针与逆时针调音量</a:t>
            </a:r>
            <a:endParaRPr/>
          </a:p>
        </p:txBody>
      </p:sp>
      <p:sp>
        <p:nvSpPr>
          <p:cNvPr id="205" name="矩形: 圆角 204"/>
          <p:cNvSpPr/>
          <p:nvPr/>
        </p:nvSpPr>
        <p:spPr>
          <a:xfrm>
            <a:off x="9505950" y="647700"/>
            <a:ext cx="2114550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6" name="图形 20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5500" y="742950"/>
            <a:ext cx="190500" cy="190500"/>
          </a:xfrm>
          <a:prstGeom prst="rect">
            <a:avLst/>
          </a:prstGeom>
          <a:ln/>
        </p:spPr>
      </p:pic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001250" y="752475"/>
            <a:ext cx="1409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顺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逆时针</a:t>
            </a:r>
            <a:endParaRPr/>
          </a:p>
        </p:txBody>
      </p:sp>
      <p:sp>
        <p:nvSpPr>
          <p:cNvPr id="208" name="矩形: 圆角 207"/>
          <p:cNvSpPr/>
          <p:nvPr/>
        </p:nvSpPr>
        <p:spPr>
          <a:xfrm>
            <a:off x="571500" y="1219200"/>
            <a:ext cx="5429250" cy="2857500"/>
          </a:xfrm>
          <a:prstGeom prst="roundRect">
            <a:avLst>
              <a:gd name="adj" fmla="val 466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9" name="图形 2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019300"/>
            <a:ext cx="495300" cy="495300"/>
          </a:xfrm>
          <a:prstGeom prst="rect">
            <a:avLst/>
          </a:prstGeom>
          <a:ln/>
        </p:spPr>
      </p:pic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504950" y="2114550"/>
            <a:ext cx="11620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 dirty="0">
                <a:solidFill>
                  <a:srgbClr val="EAF3FF"/>
                </a:solidFill>
                <a:latin typeface="Microsoft YaHei"/>
                <a:ea typeface="Microsoft YaHei"/>
              </a:rPr>
              <a:t>顺时针</a:t>
            </a:r>
            <a:r>
              <a:rPr lang="en-US" sz="1950" b="1" dirty="0">
                <a:solidFill>
                  <a:srgbClr val="EAF3FF"/>
                </a:solidFill>
                <a:latin typeface="Microsoft YaHei"/>
                <a:ea typeface="Microsoft YaHei"/>
              </a:rPr>
              <a:t> ×3			</a:t>
            </a:r>
            <a:endParaRPr dirty="0"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857250" y="2647950"/>
            <a:ext cx="4857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EDD"/>
                </a:solidFill>
                <a:latin typeface="Microsoft YaHei"/>
                <a:ea typeface="Microsoft YaHei"/>
              </a:rPr>
              <a:t>HID </a:t>
            </a:r>
            <a:r>
              <a:rPr lang="en-US" sz="1275">
                <a:solidFill>
                  <a:srgbClr val="EAF3FF"/>
                </a:solidFill>
                <a:latin typeface="Microsoft YaHei"/>
                <a:ea typeface="Microsoft YaHei"/>
              </a:rPr>
              <a:t>Consumer VOL+ (0xE9) ×3</a:t>
            </a:r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57250" y="2981325"/>
            <a:ext cx="48577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0D4FF"/>
                </a:solidFill>
                <a:latin typeface="Microsoft YaHei"/>
                <a:ea typeface="Microsoft YaHei"/>
              </a:rPr>
              <a:t>音量</a:t>
            </a:r>
            <a:r>
              <a:rPr lang="en-US" sz="1950" b="1">
                <a:solidFill>
                  <a:srgbClr val="00D4FF"/>
                </a:solidFill>
                <a:latin typeface="Microsoft YaHei"/>
                <a:ea typeface="Microsoft YaHei"/>
              </a:rPr>
              <a:t> +</a:t>
            </a:r>
            <a:endParaRPr/>
          </a:p>
        </p:txBody>
      </p:sp>
      <p:sp>
        <p:nvSpPr>
          <p:cNvPr id="213" name="矩形: 圆角 212"/>
          <p:cNvSpPr/>
          <p:nvPr/>
        </p:nvSpPr>
        <p:spPr>
          <a:xfrm>
            <a:off x="6191250" y="1219200"/>
            <a:ext cx="5429250" cy="2857500"/>
          </a:xfrm>
          <a:prstGeom prst="roundRect">
            <a:avLst>
              <a:gd name="adj" fmla="val 4667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4" name="图形 2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19300"/>
            <a:ext cx="495300" cy="495300"/>
          </a:xfrm>
          <a:prstGeom prst="rect">
            <a:avLst/>
          </a:prstGeom>
          <a:ln/>
        </p:spPr>
      </p:pic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7124700" y="2114550"/>
            <a:ext cx="11620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EAF3FF"/>
                </a:solidFill>
                <a:latin typeface="Microsoft YaHei"/>
                <a:ea typeface="Microsoft YaHei"/>
              </a:rPr>
              <a:t>逆时针</a:t>
            </a:r>
            <a:r>
              <a:rPr lang="en-US" sz="1950" b="1">
                <a:solidFill>
                  <a:srgbClr val="EAF3FF"/>
                </a:solidFill>
                <a:latin typeface="Microsoft YaHei"/>
                <a:ea typeface="Microsoft YaHei"/>
              </a:rPr>
              <a:t> ×3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6477000" y="2647950"/>
            <a:ext cx="4857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EDD"/>
                </a:solidFill>
                <a:latin typeface="Microsoft YaHei"/>
                <a:ea typeface="Microsoft YaHei"/>
              </a:rPr>
              <a:t>HID </a:t>
            </a:r>
            <a:r>
              <a:rPr lang="en-US" sz="1275">
                <a:solidFill>
                  <a:srgbClr val="EAF3FF"/>
                </a:solidFill>
                <a:latin typeface="Microsoft YaHei"/>
                <a:ea typeface="Microsoft YaHei"/>
              </a:rPr>
              <a:t>Consumer VOL- (0xEA) ×3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6477000" y="2981325"/>
            <a:ext cx="48577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0D4FF"/>
                </a:solidFill>
                <a:latin typeface="Microsoft YaHei"/>
                <a:ea typeface="Microsoft YaHei"/>
              </a:rPr>
              <a:t>音量</a:t>
            </a:r>
            <a:r>
              <a:rPr lang="en-US" sz="1950" b="1">
                <a:solidFill>
                  <a:srgbClr val="00D4FF"/>
                </a:solidFill>
                <a:latin typeface="Microsoft YaHei"/>
                <a:ea typeface="Microsoft YaHei"/>
              </a:rPr>
              <a:t> −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857250" y="4710112"/>
            <a:ext cx="9220200" cy="1114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425" dirty="0">
                <a:solidFill>
                  <a:srgbClr val="EAF3FF"/>
                </a:solidFill>
                <a:latin typeface="Microsoft YaHei"/>
                <a:ea typeface="Microsoft YaHei"/>
              </a:rPr>
              <a:t>现在交替做【顺时针】和【逆时针】手势，</a:t>
            </a:r>
            <a:endParaRPr dirty="0"/>
          </a:p>
          <a:p>
            <a:pPr>
              <a:lnSpc>
                <a:spcPct val="170000"/>
              </a:lnSpc>
            </a:pPr>
            <a:r>
              <a:rPr lang="zh-CN" sz="1425" dirty="0">
                <a:solidFill>
                  <a:srgbClr val="EAF3FF"/>
                </a:solidFill>
                <a:latin typeface="Microsoft YaHei"/>
                <a:ea typeface="Microsoft YaHei"/>
              </a:rPr>
              <a:t>音乐大小变化立刻听得见——</a:t>
            </a:r>
            <a:endParaRPr dirty="0"/>
          </a:p>
        </p:txBody>
      </p:sp>
      <p:sp>
        <p:nvSpPr>
          <p:cNvPr id="221" name="矩形: 圆角 220"/>
          <p:cNvSpPr/>
          <p:nvPr/>
        </p:nvSpPr>
        <p:spPr>
          <a:xfrm>
            <a:off x="10687050" y="5391150"/>
            <a:ext cx="685800" cy="685800"/>
          </a:xfrm>
          <a:prstGeom prst="roundRect">
            <a:avLst>
              <a:gd name="adj" fmla="val 50000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2" name="图形 2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7550" y="5581650"/>
            <a:ext cx="304800" cy="304800"/>
          </a:xfrm>
          <a:prstGeom prst="rect">
            <a:avLst/>
          </a:prstGeom>
          <a:ln/>
        </p:spPr>
      </p:pic>
      <p:sp>
        <p:nvSpPr>
          <p:cNvPr id="223" name="矩形: 圆角 222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07 / 10</a:t>
            </a:r>
            <a:endParaRPr dirty="0"/>
          </a:p>
        </p:txBody>
      </p:sp>
      <p:sp>
        <p:nvSpPr>
          <p:cNvPr id="226" name="矩形: 圆角 225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7" name="图形 2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230" name="矩形: 圆角 229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232" name="图形 2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stSnd loop="1">
        <p:snd r:embed="rId2" name="demo-music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手势 08 · 挥手一键静音&lt;/Text&gt;&#10;    &lt;/Box&gt;&#10;    &lt;Box style={{ flexDirection: 'row', alignItems: 'center', gap: 10, background: '#143A61', borderRadius: 24, padding: '10px 22px', border: '1px solid #00D4FF' }}&gt;&#10;      &lt;FAIcon name=&quot;volume-mute&quot; style={{ fill: '#00D4FF', width: 20, height: 20 }} /&gt;&#10;      &lt;Text style={{ fontSize: 15, color: '#00D4FF' }}&gt;本页手势 · 挥手&lt;/Text&gt;&#10;    &lt;/Box&gt;&#10;  &lt;/Box&gt;&#10;  &lt;Box style={{ height: 532, flexDirection: 'row', gap: 40, alignItems: 'center' }}&gt;&#10;    &lt;Box style={{ flex: 1, flexDirection: 'column', gap: 20 }}&gt;&#10;      &lt;Box style={{ background: '#143A61', borderRadius: 12, padding: '22px 26px', flexDirection: 'column', gap: 12 }}&gt;&#10;        &lt;Text style={{ fontSize: 17, color: '#9FBEDD' }}&gt;HID 行为 &lt;span style={{ fontSize: 20, color: '#EAF3FF', fontFamily: 'Arial' }}&gt;Consumer Mute (0xE2)&lt;/span&gt;&lt;/Text&gt;&#10;        &lt;Text style={{ fontSize: 17, color: '#9FBEDD' }}&gt;用途 &lt;span style={{ fontSize: 20, color: '#EAF3FF' }}&gt;静音切换&lt;/span&gt;&lt;/Text&gt;&#10;      &lt;/Box&gt;&#10;      &lt;Box style={{ background: '#143A61', borderRadius: 12, padding: '26px 26px', flexDirection: 'column', gap: 12, border: '1px solid #00D4FF' }}&gt;&#10;        &lt;Text style={{ fontSize: 16, color: '#00D4FF', fontWeight: 'bold' }}&gt;现场体验&lt;/Text&gt;&#10;        &lt;Text style={{ fontSize: 22, color: '#EAF3FF', lineHeight: 1.7 }}&gt;音乐还在响？&lt;span style={{ color: '#00D4FF', fontWeight: 'bold' }}&gt;挥一下手&lt;/span&gt;——瞬间静音；&lt;br /&gt;再挥一下，声音回来。&lt;br /&gt;想插话讲重点，这就是最快的&quot;暂停键&quot;。&lt;/Text&gt;&#10;      &lt;/Box&gt;&#10;      &lt;Text style={{ fontSize: 15, color: '#9FBEDD' }}&gt;连招推荐：顺时针调大音量 → 讲话前挥手静音 → 讲完再挥恢复。&lt;/Text&gt;&#10;    &lt;/Box&gt;&#10;    &lt;Box style={{ width: 420, height: '100%', flexDirection: 'column', justifyContent: 'center', alignItems: 'center', gap: 18 }}&gt;&#10;      &lt;Box style={{ width: 260, height: 260, borderRadius: 130, border: '2px solid #143A61', justifyContent: 'center', alignItems: 'center' }}&gt;&#10;        &lt;FAIcon name=&quot;volume-mute&quot; style={{ fill: '#00D4FF', width: 130, height: 130 }} /&gt;&#10;      &lt;/Box&gt;&#10;      &lt;Text style={{ fontSize: 44, color: '#EAF3FF', fontWeight: 'bold', letterSpacing: 8 }}&gt;挥手 = Mute&lt;/Text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8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2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矩形: 圆角 234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800100" y="666750"/>
            <a:ext cx="30194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手势</a:t>
            </a:r>
            <a:r>
              <a:rPr lang="en-US" sz="2250" b="1">
                <a:solidFill>
                  <a:srgbClr val="EAF3FF"/>
                </a:solidFill>
                <a:latin typeface="Microsoft YaHei"/>
                <a:ea typeface="Microsoft YaHei"/>
              </a:rPr>
              <a:t> 08 · </a:t>
            </a:r>
            <a:r>
              <a:rPr lang="zh-CN" sz="2250" b="1">
                <a:solidFill>
                  <a:srgbClr val="EAF3FF"/>
                </a:solidFill>
                <a:latin typeface="Microsoft YaHei"/>
                <a:ea typeface="Microsoft YaHei"/>
              </a:rPr>
              <a:t>挥手一键静音</a:t>
            </a:r>
            <a:endParaRPr/>
          </a:p>
        </p:txBody>
      </p:sp>
      <p:sp>
        <p:nvSpPr>
          <p:cNvPr id="237" name="矩形: 圆角 236"/>
          <p:cNvSpPr/>
          <p:nvPr/>
        </p:nvSpPr>
        <p:spPr>
          <a:xfrm>
            <a:off x="9934575" y="647700"/>
            <a:ext cx="168592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8" name="图形 2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4125" y="742950"/>
            <a:ext cx="190500" cy="190500"/>
          </a:xfrm>
          <a:prstGeom prst="rect">
            <a:avLst/>
          </a:prstGeom>
          <a:ln/>
        </p:spPr>
      </p:pic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10429875" y="752475"/>
            <a:ext cx="9810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本页手势</a:t>
            </a:r>
            <a:r>
              <a:rPr lang="en-US" sz="1125">
                <a:solidFill>
                  <a:srgbClr val="00D4FF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00D4FF"/>
                </a:solidFill>
                <a:latin typeface="Microsoft YaHei"/>
                <a:ea typeface="Microsoft YaHei"/>
              </a:rPr>
              <a:t>挥手</a:t>
            </a:r>
            <a:endParaRPr/>
          </a:p>
        </p:txBody>
      </p:sp>
      <p:sp>
        <p:nvSpPr>
          <p:cNvPr id="240" name="矩形: 圆角 239"/>
          <p:cNvSpPr/>
          <p:nvPr/>
        </p:nvSpPr>
        <p:spPr>
          <a:xfrm>
            <a:off x="571500" y="1943100"/>
            <a:ext cx="6667500" cy="990600"/>
          </a:xfrm>
          <a:prstGeom prst="roundRect">
            <a:avLst>
              <a:gd name="adj" fmla="val 11538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19150" y="2152650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HID </a:t>
            </a: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行为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 </a:t>
            </a:r>
            <a:r>
              <a:rPr lang="en-US" sz="1500">
                <a:solidFill>
                  <a:srgbClr val="EAF3FF"/>
                </a:solidFill>
                <a:latin typeface="Microsoft YaHei"/>
                <a:ea typeface="Microsoft YaHei"/>
              </a:rPr>
              <a:t>Consumer Mute (0xE2)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819150" y="2495550"/>
            <a:ext cx="6172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9FBEDD"/>
                </a:solidFill>
                <a:latin typeface="Microsoft YaHei"/>
                <a:ea typeface="Microsoft YaHei"/>
              </a:rPr>
              <a:t>用途</a:t>
            </a:r>
            <a:r>
              <a:rPr lang="en-US" sz="1275">
                <a:solidFill>
                  <a:srgbClr val="9FBEDD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EAF3FF"/>
                </a:solidFill>
                <a:latin typeface="Microsoft YaHei"/>
                <a:ea typeface="Microsoft YaHei"/>
              </a:rPr>
              <a:t>静音切换</a:t>
            </a:r>
            <a:endParaRPr/>
          </a:p>
        </p:txBody>
      </p:sp>
      <p:sp>
        <p:nvSpPr>
          <p:cNvPr id="243" name="矩形: 圆角 242"/>
          <p:cNvSpPr/>
          <p:nvPr/>
        </p:nvSpPr>
        <p:spPr>
          <a:xfrm>
            <a:off x="571500" y="3124200"/>
            <a:ext cx="6667500" cy="2085975"/>
          </a:xfrm>
          <a:prstGeom prst="roundRect">
            <a:avLst>
              <a:gd name="adj" fmla="val 5479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819150" y="3429000"/>
            <a:ext cx="6172200" cy="1285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音乐还在响？</a:t>
            </a:r>
            <a:r>
              <a:rPr lang="zh-CN" sz="1650" b="1" dirty="0">
                <a:solidFill>
                  <a:srgbClr val="00D4FF"/>
                </a:solidFill>
                <a:latin typeface="Microsoft YaHei"/>
                <a:ea typeface="Microsoft YaHei"/>
              </a:rPr>
              <a:t>挥一下手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——瞬间静音；</a:t>
            </a:r>
            <a:endParaRPr dirty="0"/>
          </a:p>
          <a:p>
            <a:pPr>
              <a:lnSpc>
                <a:spcPct val="17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再挥一下，声音回来。</a:t>
            </a:r>
            <a:endParaRPr dirty="0"/>
          </a:p>
          <a:p>
            <a:pPr>
              <a:lnSpc>
                <a:spcPct val="170000"/>
              </a:lnSpc>
            </a:pP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想插话讲重点，这就是最快的</a:t>
            </a:r>
            <a:r>
              <a:rPr lang="en-US" sz="1650" dirty="0">
                <a:solidFill>
                  <a:srgbClr val="EAF3FF"/>
                </a:solidFill>
                <a:latin typeface="Microsoft YaHei"/>
                <a:ea typeface="Microsoft YaHei"/>
              </a:rPr>
              <a:t>"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暂停键</a:t>
            </a:r>
            <a:r>
              <a:rPr lang="en-US" sz="1650" dirty="0">
                <a:solidFill>
                  <a:srgbClr val="EAF3FF"/>
                </a:solidFill>
                <a:latin typeface="Microsoft YaHei"/>
                <a:ea typeface="Microsoft YaHei"/>
              </a:rPr>
              <a:t>"</a:t>
            </a:r>
            <a:r>
              <a:rPr lang="zh-CN" sz="1650" dirty="0">
                <a:solidFill>
                  <a:srgbClr val="EAF3FF"/>
                </a:solidFill>
                <a:latin typeface="Microsoft YaHei"/>
                <a:ea typeface="Microsoft YaHei"/>
              </a:rPr>
              <a:t>。</a:t>
            </a:r>
            <a:endParaRPr dirty="0"/>
          </a:p>
        </p:txBody>
      </p:sp>
      <p:sp>
        <p:nvSpPr>
          <p:cNvPr id="247" name="矩形: 圆角 246"/>
          <p:cNvSpPr/>
          <p:nvPr/>
        </p:nvSpPr>
        <p:spPr>
          <a:xfrm>
            <a:off x="8382000" y="2181225"/>
            <a:ext cx="2476500" cy="2476500"/>
          </a:xfrm>
          <a:prstGeom prst="roundRect">
            <a:avLst>
              <a:gd name="adj" fmla="val 50000"/>
            </a:avLst>
          </a:prstGeom>
          <a:ln w="254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8" name="图形 2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1125" y="2800350"/>
            <a:ext cx="1238250" cy="1238250"/>
          </a:xfrm>
          <a:prstGeom prst="rect">
            <a:avLst/>
          </a:prstGeom>
          <a:ln/>
        </p:spPr>
      </p:pic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010525" y="4829175"/>
            <a:ext cx="321945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300" b="1" spc="600">
                <a:solidFill>
                  <a:srgbClr val="EAF3FF"/>
                </a:solidFill>
                <a:latin typeface="Microsoft YaHei"/>
                <a:ea typeface="Microsoft YaHei"/>
              </a:rPr>
              <a:t>挥手</a:t>
            </a:r>
            <a:r>
              <a:rPr lang="en-US" sz="3300" b="1" spc="600">
                <a:solidFill>
                  <a:srgbClr val="EAF3FF"/>
                </a:solidFill>
                <a:latin typeface="Microsoft YaHei"/>
                <a:ea typeface="Microsoft YaHei"/>
              </a:rPr>
              <a:t> = Mute</a:t>
            </a:r>
            <a:endParaRPr/>
          </a:p>
        </p:txBody>
      </p:sp>
      <p:sp>
        <p:nvSpPr>
          <p:cNvPr id="250" name="矩形: 圆角 249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08 / 10</a:t>
            </a:r>
            <a:endParaRPr dirty="0"/>
          </a:p>
        </p:txBody>
      </p:sp>
      <p:sp>
        <p:nvSpPr>
          <p:cNvPr id="253" name="矩形: 圆角 252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4" name="图形 2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257" name="矩形: 圆角 256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259" name="图形 2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  <p:transition>
    <p:sndAc>
      <p:stSnd loop="1">
        <p:snd r:embed="rId2" name="demo-music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background: '#0C2A4A', padding: '48px 60px 20px 60px' }}&gt;&#10;  &lt;Box style={{ height: 80, flexDirection: 'row', justifyContent: 'space-between', alignItems: 'center' }}&gt;&#10;    &lt;Box style={{ flexDirection: 'row', alignItems: 'center', gap: 16 }}&gt;&#10;      &lt;Box style={{ width: 8, height: 40, background: '#00D4FF', borderRadius: 4 }} /&gt;&#10;      &lt;Text style={{ fontSize: 30, color: '#EAF3FF', fontWeight: 'bold' }}&gt;演示完毕 · 8 种手势全回顾&lt;/Text&gt;&#10;    &lt;/Box&gt;&#10;    &lt;Box style={{ flexDirection: 'row', alignItems: 'center', gap: 10, background: '#143A61', borderRadius: 24, padding: '10px 22px', border: '1px solid #00D4FF' }}&gt;&#10;      &lt;FAIcon name=&quot;check-circle&quot; style={{ fill: '#00D4FF', width: 20, height: 20 }} /&gt;&#10;      &lt;Text style={{ fontSize: 15, color: '#00D4FF' }}&gt;8 种已演示&lt;/Text&gt;&#10;    &lt;/Box&gt;&#10;  &lt;/Box&gt;&#10;  &lt;Box style={{ height: 532, flexDirection: 'column', gap: 16 }}&gt;&#10;    &lt;Box style={{ flex: 1, flexDirection: 'row', gap: 12 }}&gt;&#10;      &lt;Box style={{ flex: 1, background: '#143A61', borderRadius: 12, padding: '16px 16px', flexDirection: 'column', justifyContent: 'center', gap: 8 }}&gt;&#10;        &lt;Text style={{ fontSize: 18, color: '#EAF3FF', fontWeight: 'bold' }}&gt;✓ 右滑&lt;/Text&gt;&#10;        &lt;Text style={{ fontSize: 13, color: '#00D4FF', fontFamily: 'Arial' }}&gt;PageDown 0x4E&lt;/Text&gt;&#10;        &lt;Text style={{ fontSize: 14, color: '#9FBEDD' }}&gt;翻到下一页&lt;/Text&gt;&#10;      &lt;/Box&gt;&#10;      &lt;Box style={{ flex: 1, background: '#143A61', borderRadius: 12, padding: '16px 16px', flexDirection: 'column', justifyContent: 'center', gap: 8 }}&gt;&#10;        &lt;Text style={{ fontSize: 18, color: '#EAF3FF', fontWeight: 'bold' }}&gt;✓ 左滑&lt;/Text&gt;&#10;        &lt;Text style={{ fontSize: 13, color: '#00D4FF', fontFamily: 'Arial' }}&gt;PageUp 0x4B&lt;/Text&gt;&#10;        &lt;Text style={{ fontSize: 14, color: '#9FBEDD' }}&gt;翻到上一页&lt;/Text&gt;&#10;      &lt;/Box&gt;&#10;      &lt;Box style={{ flex: 1, background: '#143A61', borderRadius: 12, padding: '16px 16px', flexDirection: 'column', justifyContent: 'center', gap: 8 }}&gt;&#10;        &lt;Text style={{ fontSize: 18, color: '#EAF3FF', fontWeight: 'bold' }}&gt;✓ 上滑&lt;/Text&gt;&#10;        &lt;Text style={{ fontSize: 13, color: '#00D4FF', fontFamily: 'Arial' }}&gt;Tab 0x2B&lt;/Text&gt;&#10;        &lt;Text style={{ fontSize: 14, color: '#9FBEDD' }}&gt;下一个链接 / 控件&lt;/Text&gt;&#10;      &lt;/Box&gt;&#10;      &lt;Box style={{ flex: 1, background: '#143A61', borderRadius: 12, padding: '16px 16px', flexDirection: 'column', justifyContent: 'center', gap: 8 }}&gt;&#10;        &lt;Text style={{ fontSize: 18, color: '#EAF3FF', fontWeight: 'bold' }}&gt;✓ 下滑&lt;/Text&gt;&#10;        &lt;Text style={{ fontSize: 13, color: '#00D4FF', fontFamily: 'Arial' }}&gt;Shift+Tab&lt;/Text&gt;&#10;        &lt;Text style={{ fontSize: 14, color: '#9FBEDD' }}&gt;上一个链接 / 控件&lt;/Text&gt;&#10;      &lt;/Box&gt;&#10;    &lt;/Box&gt;&#10;    &lt;Box style={{ flex: 1, flexDirection: 'row', gap: 12 }}&gt;&#10;      &lt;Box style={{ flex: 1, background: '#143A61', borderRadius: 12, padding: '16px 16px', flexDirection: 'column', justifyContent: 'center', gap: 8 }}&gt;&#10;        &lt;Text style={{ fontSize: 18, color: '#EAF3FF', fontWeight: 'bold' }}&gt;✓ 靠近&lt;/Text&gt;&#10;        &lt;Text style={{ fontSize: 13, color: '#00D4FF', fontFamily: 'Arial' }}&gt;Enter 0x28&lt;/Text&gt;&#10;        &lt;Text style={{ fontSize: 14, color: '#9FBEDD' }}&gt;打开链接 / 确认&lt;/Text&gt;&#10;      &lt;/Box&gt;&#10;      &lt;Box style={{ flex: 1, background: '#143A61', borderRadius: 12, padding: '16px 16px', flexDirection: 'column', justifyContent: 'center', gap: 8 }}&gt;&#10;        &lt;Text style={{ fontSize: 18, color: '#EAF3FF', fontWeight: 'bold' }}&gt;✓ 顺时针&lt;/Text&gt;&#10;        &lt;Text style={{ fontSize: 13, color: '#00D4FF', fontFamily: 'Arial' }}&gt;VOL+ 0xE9 ×3&lt;/Text&gt;&#10;        &lt;Text style={{ fontSize: 14, color: '#9FBEDD' }}&gt;音量加&lt;/Text&gt;&#10;      &lt;/Box&gt;&#10;      &lt;Box style={{ flex: 1, background: '#143A61', borderRadius: 12, padding: '16px 16px', flexDirection: 'column', justifyContent: 'center', gap: 8 }}&gt;&#10;        &lt;Text style={{ fontSize: 18, color: '#EAF3FF', fontWeight: 'bold' }}&gt;✓ 逆时针&lt;/Text&gt;&#10;        &lt;Text style={{ fontSize: 13, color: '#00D4FF', fontFamily: 'Arial' }}&gt;VOL- 0xEA ×3&lt;/Text&gt;&#10;        &lt;Text style={{ fontSize: 14, color: '#9FBEDD' }}&gt;音量减&lt;/Text&gt;&#10;      &lt;/Box&gt;&#10;      &lt;Box style={{ flex: 1, background: '#143A61', borderRadius: 12, padding: '16px 16px', flexDirection: 'column', justifyContent: 'center', gap: 8 }}&gt;&#10;        &lt;Text style={{ fontSize: 18, color: '#EAF3FF', fontWeight: 'bold' }}&gt;✓ 挥手&lt;/Text&gt;&#10;        &lt;Text style={{ fontSize: 13, color: '#00D4FF', fontFamily: 'Arial' }}&gt;Mute 0xE2&lt;/Text&gt;&#10;        &lt;Text style={{ fontSize: 14, color: '#9FBEDD' }}&gt;静音切换&lt;/Text&gt;&#10;      &lt;/Box&gt;&#10;    &lt;/Box&gt;&#10;    &lt;Box style={{ height: 90, flexDirection: 'row', justifyContent: 'center', alignItems: 'center', gap: 24 }}&gt;&#10;      &lt;Text style={{ fontSize: 26, color: '#EAF3FF', fontWeight: 'bold' }}&gt;感谢观看 —— 挥挥手，静音告别&lt;/Text&gt;&#10;      &lt;Box href=&quot;ppaction://hlinkshowjump?jump=firstslide&quot; style={{ background: '#143A61', borderRadius: 20, border: '1px solid #00D4FF', padding: '12px 26px' }}&gt;&#10;        &lt;Text style={{ fontSize: 15, color: '#00D4FF' }}&gt;回到第一页&lt;/Text&gt;&#10;      &lt;/Box&gt;&#10;    &lt;/Box&gt;&#10;  &lt;/Box&gt;&#10;  &lt;Box style={{ height: 40, flexDirection: 'row', justifyContent: 'space-between', alignItems: 'center' }}&gt;&#10;    &lt;Box style={{ flexDirection: 'row', alignItems: 'center', gap: 10 }}&gt;&#10;      &lt;Box style={{ width: 6, height: 6, borderRadius: 3, background: '#00D4FF' }} /&gt;&#10;      &lt;Text style={{ fontSize: 12, color: '#9FBEDD', fontFamily: 'Arial', letterSpacing: 2 }}&gt;09 / 09&lt;/Text&gt;&#10;    &lt;/Box&gt;&#10;    &lt;Box style={{ flexDirection: 'row', alignItems: 'center', gap: 10 }}&gt;&#10;      &lt;Box href=&quot;ppaction://hlinkshowjump?jump=previousslide&quot; style={{ flexDirection: 'row', alignItems: 'center', gap: 6, borderRadius: 16, border: '1px solid #143A61', padding: '7px 16px' }}&gt;&#10;        &lt;FAIcon name=&quot;chevron-left&quot; style={{ fill: '#9FBEDD', width: 12, height: 12 }} /&gt;&#10;        &lt;Text style={{ fontSize: 12, color: '#9FBEDD' }}&gt;上一页&lt;/Text&gt;&#10;      &lt;/Box&gt;&#10;      &lt;Box href=&quot;ppaction://hlinkshowjump?jump=nextslide&quot; style={{ flexDirection: 'row', alignItems: 'center', gap: 6, borderRadius: 16, border: '1px solid #00D4FF', padding: '7px 16px' }}&gt;&#10;        &lt;Text style={{ fontSize: 12, color: '#00D4FF' }}&gt;下一页&lt;/Text&gt;&#10;        &lt;FAIcon name=&quot;chevron-right&quot; style={{ fill: '#00D4FF', width: 12, height: 12 }} /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矩形 2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矩形: 圆角 261"/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800100" y="666750"/>
            <a:ext cx="34194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演示完毕</a:t>
            </a:r>
            <a:r>
              <a:rPr 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 · 8 </a:t>
            </a:r>
            <a:r>
              <a:rPr lang="zh-CN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种手势全回顾</a:t>
            </a:r>
            <a:endParaRPr dirty="0"/>
          </a:p>
        </p:txBody>
      </p:sp>
      <p:sp>
        <p:nvSpPr>
          <p:cNvPr id="264" name="矩形: 圆角 263"/>
          <p:cNvSpPr/>
          <p:nvPr/>
        </p:nvSpPr>
        <p:spPr>
          <a:xfrm>
            <a:off x="10210800" y="647700"/>
            <a:ext cx="1409700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5" name="图形 2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0350" y="742950"/>
            <a:ext cx="190500" cy="190500"/>
          </a:xfrm>
          <a:prstGeom prst="rect">
            <a:avLst/>
          </a:prstGeom>
          <a:ln/>
        </p:spPr>
      </p:pic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0706100" y="752475"/>
            <a:ext cx="704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8 </a:t>
            </a:r>
            <a:r>
              <a:rPr lang="zh-CN" sz="1125" dirty="0">
                <a:solidFill>
                  <a:srgbClr val="00D4FF"/>
                </a:solidFill>
                <a:latin typeface="Microsoft YaHei"/>
                <a:ea typeface="Microsoft YaHei"/>
              </a:rPr>
              <a:t>种已演示</a:t>
            </a:r>
            <a:endParaRPr dirty="0"/>
          </a:p>
        </p:txBody>
      </p:sp>
      <p:sp>
        <p:nvSpPr>
          <p:cNvPr id="267" name="矩形: 圆角 266"/>
          <p:cNvSpPr/>
          <p:nvPr/>
        </p:nvSpPr>
        <p:spPr>
          <a:xfrm>
            <a:off x="571500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23900" y="1857375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alt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上</a:t>
            </a:r>
            <a:r>
              <a:rPr lang="zh-CN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723900" y="2143125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PageDown 0x4E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23900" y="2371725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翻到下一页</a:t>
            </a:r>
            <a:endParaRPr/>
          </a:p>
        </p:txBody>
      </p:sp>
      <p:sp>
        <p:nvSpPr>
          <p:cNvPr id="271" name="矩形: 圆角 270"/>
          <p:cNvSpPr/>
          <p:nvPr/>
        </p:nvSpPr>
        <p:spPr>
          <a:xfrm>
            <a:off x="3362325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3514725" y="1857375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alt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下</a:t>
            </a:r>
            <a:r>
              <a:rPr lang="zh-CN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3514725" y="2143125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PageUp 0x4B</a:t>
            </a:r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3514725" y="2371725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翻到上一页</a:t>
            </a:r>
            <a:endParaRPr/>
          </a:p>
        </p:txBody>
      </p:sp>
      <p:sp>
        <p:nvSpPr>
          <p:cNvPr id="275" name="矩形: 圆角 274"/>
          <p:cNvSpPr/>
          <p:nvPr/>
        </p:nvSpPr>
        <p:spPr>
          <a:xfrm>
            <a:off x="6153150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305550" y="1857375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alt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左</a:t>
            </a:r>
            <a:r>
              <a:rPr lang="zh-CN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305550" y="2143125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Tab 0x2B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6305550" y="2371725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下一个链接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279" name="矩形: 圆角 278"/>
          <p:cNvSpPr/>
          <p:nvPr/>
        </p:nvSpPr>
        <p:spPr>
          <a:xfrm>
            <a:off x="8943975" y="1219200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9096375" y="1857375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altLang="en-US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右</a:t>
            </a:r>
            <a:endParaRPr lang="en-US" altLang="zh-CN" sz="1350" b="1" dirty="0">
              <a:solidFill>
                <a:srgbClr val="EAF3FF"/>
              </a:solidFill>
              <a:latin typeface="Microsoft YaHei"/>
              <a:ea typeface="Microsoft YaHei"/>
            </a:endParaRPr>
          </a:p>
          <a:p>
            <a:pPr>
              <a:lnSpc>
                <a:spcPct val="100000"/>
              </a:lnSpc>
            </a:pPr>
            <a:r>
              <a:rPr lang="en-US" altLang="zh-CN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	</a:t>
            </a:r>
            <a:r>
              <a:rPr lang="zh-CN" sz="1350" b="1" dirty="0">
                <a:solidFill>
                  <a:srgbClr val="EAF3FF"/>
                </a:solidFill>
                <a:latin typeface="Microsoft YaHei"/>
                <a:ea typeface="Microsoft YaHei"/>
              </a:rPr>
              <a:t>滑</a:t>
            </a:r>
            <a:endParaRPr dirty="0"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9096375" y="2143125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Shift+Tab</a:t>
            </a:r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096375" y="2371725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上一个链接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控件</a:t>
            </a:r>
            <a:endParaRPr/>
          </a:p>
        </p:txBody>
      </p:sp>
      <p:sp>
        <p:nvSpPr>
          <p:cNvPr id="283" name="矩形: 圆角 282"/>
          <p:cNvSpPr/>
          <p:nvPr/>
        </p:nvSpPr>
        <p:spPr>
          <a:xfrm>
            <a:off x="571500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23900" y="3962400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靠近</a:t>
            </a:r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23900" y="4248150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Enter 0x28</a:t>
            </a:r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723900" y="4476750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打开链接</a:t>
            </a:r>
            <a:r>
              <a:rPr lang="en-US" sz="1050">
                <a:solidFill>
                  <a:srgbClr val="9FBEDD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287" name="矩形: 圆角 286"/>
          <p:cNvSpPr/>
          <p:nvPr/>
        </p:nvSpPr>
        <p:spPr>
          <a:xfrm>
            <a:off x="3362325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3514725" y="3962400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顺时针</a:t>
            </a:r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3514725" y="4248150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VOL+ 0xE9 ×3</a:t>
            </a:r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3514725" y="4476750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音量加</a:t>
            </a:r>
            <a:endParaRPr/>
          </a:p>
        </p:txBody>
      </p:sp>
      <p:sp>
        <p:nvSpPr>
          <p:cNvPr id="291" name="矩形: 圆角 290"/>
          <p:cNvSpPr/>
          <p:nvPr/>
        </p:nvSpPr>
        <p:spPr>
          <a:xfrm>
            <a:off x="6153150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6305550" y="3962400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逆时针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6305550" y="4248150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VOL- 0xEA ×3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6305550" y="4476750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音量减</a:t>
            </a:r>
            <a:endParaRPr/>
          </a:p>
        </p:txBody>
      </p:sp>
      <p:sp>
        <p:nvSpPr>
          <p:cNvPr id="295" name="矩形: 圆角 294"/>
          <p:cNvSpPr/>
          <p:nvPr/>
        </p:nvSpPr>
        <p:spPr>
          <a:xfrm>
            <a:off x="8943975" y="3324225"/>
            <a:ext cx="2676525" cy="1952625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9096375" y="3962400"/>
            <a:ext cx="2371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AF3FF"/>
                </a:solidFill>
                <a:latin typeface="Microsoft YaHei"/>
                <a:ea typeface="Microsoft YaHei"/>
              </a:rPr>
              <a:t>✓ </a:t>
            </a:r>
            <a:r>
              <a:rPr lang="zh-CN" sz="1350" b="1">
                <a:solidFill>
                  <a:srgbClr val="EAF3FF"/>
                </a:solidFill>
                <a:latin typeface="Microsoft YaHei"/>
                <a:ea typeface="Microsoft YaHei"/>
              </a:rPr>
              <a:t>挥手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9096375" y="4248150"/>
            <a:ext cx="2371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0D4FF"/>
                </a:solidFill>
                <a:latin typeface="Arial"/>
                <a:ea typeface="Arial"/>
              </a:rPr>
              <a:t>Mute 0xE2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9096375" y="4476750"/>
            <a:ext cx="2371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EDD"/>
                </a:solidFill>
                <a:latin typeface="Microsoft YaHei"/>
                <a:ea typeface="Microsoft YaHei"/>
              </a:rPr>
              <a:t>静音切换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3552825" y="5705475"/>
            <a:ext cx="36576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303" name="矩形: 圆角 302"/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09 / 10</a:t>
            </a:r>
            <a:endParaRPr dirty="0"/>
          </a:p>
        </p:txBody>
      </p:sp>
      <p:sp>
        <p:nvSpPr>
          <p:cNvPr id="306" name="矩形: 圆角 305">
            <a:hlinkClick r:id="" action="ppaction://hlinkshowjump?jump=previousslide"/>
          </p:cNvPr>
          <p:cNvSpPr/>
          <p:nvPr/>
        </p:nvSpPr>
        <p:spPr>
          <a:xfrm>
            <a:off x="98869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143A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7" name="图形 3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9350" y="6429375"/>
            <a:ext cx="114300" cy="114300"/>
          </a:xfrm>
          <a:prstGeom prst="rect">
            <a:avLst/>
          </a:prstGeom>
          <a:ln/>
        </p:spPr>
      </p:pic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021080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9FBEDD"/>
                </a:solidFill>
                <a:latin typeface="Microsoft YaHei"/>
                <a:ea typeface="Microsoft YaHei"/>
              </a:rPr>
              <a:t>上一页</a:t>
            </a:r>
            <a:endParaRPr/>
          </a:p>
        </p:txBody>
      </p:sp>
      <p:sp>
        <p:nvSpPr>
          <p:cNvPr id="310" name="矩形: 圆角 309">
            <a:hlinkClick r:id="" action="ppaction://hlinkshowjump?jump=nextslide"/>
          </p:cNvPr>
          <p:cNvSpPr/>
          <p:nvPr/>
        </p:nvSpPr>
        <p:spPr>
          <a:xfrm>
            <a:off x="10801350" y="6343650"/>
            <a:ext cx="819150" cy="276225"/>
          </a:xfrm>
          <a:prstGeom prst="roundRect">
            <a:avLst>
              <a:gd name="adj" fmla="val 55172"/>
            </a:avLst>
          </a:prstGeom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10953750" y="6410325"/>
            <a:ext cx="3429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00D4FF"/>
                </a:solidFill>
                <a:latin typeface="Microsoft YaHei"/>
                <a:ea typeface="Microsoft YaHei"/>
              </a:rPr>
              <a:t>下一页</a:t>
            </a:r>
            <a:endParaRPr/>
          </a:p>
        </p:txBody>
      </p:sp>
      <p:pic>
        <p:nvPicPr>
          <p:cNvPr id="312" name="图形 3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6429375"/>
            <a:ext cx="114300" cy="1143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6023CD0-9BC1-26B1-1167-72C04948A3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DCB8783-0BC7-C773-704A-526A3DD24DB3}"/>
              </a:ext>
            </a:extLst>
          </p:cNvPr>
          <p:cNvSpPr/>
          <p:nvPr/>
        </p:nvSpPr>
        <p:spPr>
          <a:xfrm>
            <a:off x="3433019" y="2850687"/>
            <a:ext cx="5325961" cy="3201798"/>
          </a:xfrm>
          <a:prstGeom prst="roundRect">
            <a:avLst>
              <a:gd name="adj" fmla="val 5854"/>
            </a:avLst>
          </a:prstGeom>
          <a:solidFill>
            <a:srgbClr val="143A61"/>
          </a:solidFill>
          <a:ln w="38100">
            <a:solidFill>
              <a:srgbClr val="00B0F0"/>
            </a:solidFill>
          </a:ln>
        </p:spPr>
        <p:txBody>
          <a:bodyPr/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  <a:hlinkClick r:id="rId2" action="ppaction://hlinkfile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hlinkClick r:id="rId2" action="ppaction://hlinkfile"/>
              </a:rPr>
              <a:t>https://nodejs.cn/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hlinkClick r:id="rId3"/>
              </a:rPr>
              <a:t>https://www.zcool.com.cn/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042C6AA-550F-4BD5-B5A4-CA15AE2BE2AD}"/>
              </a:ext>
            </a:extLst>
          </p:cNvPr>
          <p:cNvSpPr/>
          <p:nvPr/>
        </p:nvSpPr>
        <p:spPr>
          <a:xfrm>
            <a:off x="571500" y="6477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文本框 8" descr="{&quot;isTemplate&quot;:true,&quot;type&quot;:&quot;text&quot;}">
            <a:extLst>
              <a:ext uri="{FF2B5EF4-FFF2-40B4-BE49-F238E27FC236}">
                <a16:creationId xmlns:a16="http://schemas.microsoft.com/office/drawing/2014/main" id="{6E806C52-DEEB-8022-16E6-ABE92359C2DE}"/>
              </a:ext>
            </a:extLst>
          </p:cNvPr>
          <p:cNvSpPr txBox="1"/>
          <p:nvPr/>
        </p:nvSpPr>
        <p:spPr>
          <a:xfrm>
            <a:off x="800100" y="666750"/>
            <a:ext cx="34194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Brower</a:t>
            </a: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模式演示</a:t>
            </a:r>
            <a:r>
              <a:rPr 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 · </a:t>
            </a: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第二种模式的自由切换</a:t>
            </a:r>
            <a:endParaRPr dirty="0"/>
          </a:p>
        </p:txBody>
      </p:sp>
      <p:sp>
        <p:nvSpPr>
          <p:cNvPr id="13" name="文本框 12" descr="{&quot;isTemplate&quot;:true,&quot;type&quot;:&quot;text&quot;}">
            <a:extLst>
              <a:ext uri="{FF2B5EF4-FFF2-40B4-BE49-F238E27FC236}">
                <a16:creationId xmlns:a16="http://schemas.microsoft.com/office/drawing/2014/main" id="{6401D42F-1CF7-B001-416C-BBB03F9FD3A3}"/>
              </a:ext>
            </a:extLst>
          </p:cNvPr>
          <p:cNvSpPr txBox="1"/>
          <p:nvPr/>
        </p:nvSpPr>
        <p:spPr>
          <a:xfrm>
            <a:off x="800099" y="1402359"/>
            <a:ext cx="34194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现在，请按下</a:t>
            </a:r>
            <a:r>
              <a:rPr lang="en-US" altLang="zh-CN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BOOT</a:t>
            </a: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键，感受一下</a:t>
            </a:r>
            <a:r>
              <a:rPr lang="en-US" altLang="zh-CN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Brower</a:t>
            </a: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模式吧！</a:t>
            </a:r>
            <a:endParaRPr sz="2250" b="1" dirty="0">
              <a:solidFill>
                <a:srgbClr val="EAF3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文本框 14" descr="{&quot;isTemplate&quot;:true,&quot;type&quot;:&quot;text&quot;}">
            <a:extLst>
              <a:ext uri="{FF2B5EF4-FFF2-40B4-BE49-F238E27FC236}">
                <a16:creationId xmlns:a16="http://schemas.microsoft.com/office/drawing/2014/main" id="{1557159C-0FC0-263E-9A2C-FAB5F1738D8C}"/>
              </a:ext>
            </a:extLst>
          </p:cNvPr>
          <p:cNvSpPr txBox="1"/>
          <p:nvPr/>
        </p:nvSpPr>
        <p:spPr>
          <a:xfrm>
            <a:off x="800098" y="2063515"/>
            <a:ext cx="34194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点击下方链接，演示</a:t>
            </a:r>
            <a:r>
              <a:rPr lang="en-US" altLang="zh-CN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Brower</a:t>
            </a:r>
            <a:r>
              <a:rPr lang="zh-CN" altLang="en-US" sz="2250" b="1" dirty="0">
                <a:solidFill>
                  <a:srgbClr val="EAF3FF"/>
                </a:solidFill>
                <a:latin typeface="Microsoft YaHei"/>
                <a:ea typeface="Microsoft YaHei"/>
              </a:rPr>
              <a:t>模式。</a:t>
            </a:r>
            <a:endParaRPr sz="2250" b="1" dirty="0">
              <a:solidFill>
                <a:srgbClr val="EAF3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A318779-086B-F0D2-EF4C-9FED16E8E897}"/>
              </a:ext>
            </a:extLst>
          </p:cNvPr>
          <p:cNvSpPr/>
          <p:nvPr/>
        </p:nvSpPr>
        <p:spPr>
          <a:xfrm>
            <a:off x="10328071" y="668498"/>
            <a:ext cx="1508795" cy="381000"/>
          </a:xfrm>
          <a:prstGeom prst="roundRect">
            <a:avLst>
              <a:gd name="adj" fmla="val 60000"/>
            </a:avLst>
          </a:prstGeom>
          <a:solidFill>
            <a:srgbClr val="143A61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r>
              <a:rPr lang="zh-CN" altLang="en-US" sz="1125" dirty="0">
                <a:solidFill>
                  <a:srgbClr val="00D4FF"/>
                </a:solidFill>
                <a:latin typeface="Microsoft YaHei"/>
                <a:ea typeface="Microsoft YaHei"/>
              </a:rPr>
              <a:t>    第二种模式演示</a:t>
            </a:r>
            <a:endParaRPr sz="1125" dirty="0">
              <a:solidFill>
                <a:srgbClr val="00D4FF"/>
              </a:solidFill>
              <a:latin typeface="Microsoft YaHei"/>
              <a:ea typeface="Microsoft YaHei"/>
            </a:endParaRPr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8CB077D4-7F5B-6668-4F11-B54D47B45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0350" y="742950"/>
            <a:ext cx="190500" cy="190500"/>
          </a:xfrm>
          <a:prstGeom prst="rect">
            <a:avLst/>
          </a:prstGeom>
          <a:ln/>
        </p:spPr>
      </p:pic>
      <p:sp>
        <p:nvSpPr>
          <p:cNvPr id="4" name="文本框 3" descr="{&quot;isTemplate&quot;:true,&quot;type&quot;:&quot;text&quot;}">
            <a:extLst>
              <a:ext uri="{FF2B5EF4-FFF2-40B4-BE49-F238E27FC236}">
                <a16:creationId xmlns:a16="http://schemas.microsoft.com/office/drawing/2014/main" id="{5E49782D-EABF-13E3-43B7-E2C326E94BDD}"/>
              </a:ext>
            </a:extLst>
          </p:cNvPr>
          <p:cNvSpPr txBox="1"/>
          <p:nvPr/>
        </p:nvSpPr>
        <p:spPr>
          <a:xfrm>
            <a:off x="723900" y="6410325"/>
            <a:ext cx="4857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spc="150" dirty="0">
                <a:solidFill>
                  <a:srgbClr val="9FBEDD"/>
                </a:solidFill>
                <a:latin typeface="Arial"/>
                <a:ea typeface="Arial"/>
              </a:rPr>
              <a:t>10 / 10</a:t>
            </a:r>
            <a:endParaRPr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0316A52-12F9-9F8F-8A9C-CE151FEDF9BF}"/>
              </a:ext>
            </a:extLst>
          </p:cNvPr>
          <p:cNvSpPr/>
          <p:nvPr/>
        </p:nvSpPr>
        <p:spPr>
          <a:xfrm>
            <a:off x="571500" y="645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280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959</Words>
  <Application>Microsoft Office PowerPoint</Application>
  <PresentationFormat>宽屏</PresentationFormat>
  <Paragraphs>146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yiyi chen</cp:lastModifiedBy>
  <cp:revision>3</cp:revision>
  <dcterms:created xsi:type="dcterms:W3CDTF">2026-10-14T21:59:28Z</dcterms:created>
  <dcterms:modified xsi:type="dcterms:W3CDTF">2026-10-28T15:45:41Z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{"AIGC":{"Label":"1","ContentProducer":"00119111010856365494821B355","ProduceID":"01a13ab4da7979f7aa741296ae6a041c","ReservedCode1":"","ContentPropagator":"00119111010856365494821B355","PropagateID":"01a13ab4da7979f7aa741296ae6a041c","ReservedCode2":""}}</vt:lpwstr>
  </property>
</Properties>
</file>